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6858000" cx="9144000"/>
  <p:notesSz cx="6858000" cy="9144000"/>
  <p:embeddedFontLst>
    <p:embeddedFont>
      <p:font typeface="Open Sans ExtraBold"/>
      <p:bold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OpenSansExtraBold-bold.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OpenSansExtraBold-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18e24010d6_0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18e24010d6_0_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18e24010d6_0_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18e24010d6_0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18e24010d6_0_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318e24010d6_0_1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18e24010d6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18e24010d6_0_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g318e24010d6_0_2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18e24010d6_0_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18e24010d6_0_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g318e24010d6_0_4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18e24010d6_0_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18e24010d6_0_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g318e24010d6_0_4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18e24010d6_0_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18e24010d6_0_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g318e24010d6_0_3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18e24010d6_0_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18e24010d6_0_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g318e24010d6_0_5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18e24010d6_0_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18e24010d6_0_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g318e24010d6_0_6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18e24010d6_0_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18e24010d6_0_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g318e24010d6_0_7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18e24010d6_0_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18e24010d6_0_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g318e24010d6_0_7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18e24010d6_0_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18e24010d6_0_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g318e24010d6_0_8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lvl1pPr indent="-381000" lvl="0" marL="4572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indent="-355600" lvl="1" marL="9144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indent="-342900" lvl="2" marL="13716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indent="-330200" lvl="3" marL="18288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indent="-330200" lvl="4" marL="22860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3"/>
          <p:cNvSpPr/>
          <p:nvPr/>
        </p:nvSpPr>
        <p:spPr>
          <a:xfrm>
            <a:off x="0" y="6477000"/>
            <a:ext cx="4572000" cy="381000"/>
          </a:xfrm>
          <a:prstGeom prst="rect">
            <a:avLst/>
          </a:prstGeom>
          <a:solidFill>
            <a:srgbClr val="34495E"/>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FFFFFF"/>
                </a:solidFill>
                <a:latin typeface="Calibri"/>
                <a:ea typeface="Calibri"/>
                <a:cs typeface="Calibri"/>
                <a:sym typeface="Calibri"/>
              </a:rPr>
              <a:t>Department of Computer</a:t>
            </a:r>
            <a:r>
              <a:rPr lang="en-US" sz="1600">
                <a:solidFill>
                  <a:srgbClr val="FFFFFF"/>
                </a:solidFill>
                <a:latin typeface="Calibri"/>
                <a:ea typeface="Calibri"/>
                <a:cs typeface="Calibri"/>
                <a:sym typeface="Calibri"/>
              </a:rPr>
              <a:t> Science and Engineering</a:t>
            </a:r>
            <a:endParaRPr sz="1600">
              <a:solidFill>
                <a:srgbClr val="FFFFFF"/>
              </a:solidFill>
              <a:latin typeface="Calibri"/>
              <a:ea typeface="Calibri"/>
              <a:cs typeface="Calibri"/>
              <a:sym typeface="Calibri"/>
            </a:endParaRPr>
          </a:p>
        </p:txBody>
      </p:sp>
      <p:cxnSp>
        <p:nvCxnSpPr>
          <p:cNvPr id="23" name="Google Shape;23;p3"/>
          <p:cNvCxnSpPr/>
          <p:nvPr/>
        </p:nvCxnSpPr>
        <p:spPr>
          <a:xfrm>
            <a:off x="190500" y="914400"/>
            <a:ext cx="8763000" cy="0"/>
          </a:xfrm>
          <a:prstGeom prst="straightConnector1">
            <a:avLst/>
          </a:prstGeom>
          <a:noFill/>
          <a:ln cap="flat" cmpd="sng" w="9525">
            <a:solidFill>
              <a:srgbClr val="D8D8D8"/>
            </a:solidFill>
            <a:prstDash val="solid"/>
            <a:round/>
            <a:headEnd len="sm" w="sm" type="none"/>
            <a:tailEnd len="sm" w="sm" type="none"/>
          </a:ln>
        </p:spPr>
      </p:cxnSp>
      <p:sp>
        <p:nvSpPr>
          <p:cNvPr id="24" name="Google Shape;24;p3"/>
          <p:cNvSpPr/>
          <p:nvPr/>
        </p:nvSpPr>
        <p:spPr>
          <a:xfrm>
            <a:off x="4572000" y="6477490"/>
            <a:ext cx="4572000" cy="381000"/>
          </a:xfrm>
          <a:prstGeom prst="rect">
            <a:avLst/>
          </a:prstGeom>
          <a:solidFill>
            <a:srgbClr val="34495E"/>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FFFFFF"/>
                </a:solidFill>
                <a:latin typeface="Calibri"/>
                <a:ea typeface="Calibri"/>
                <a:cs typeface="Calibri"/>
                <a:sym typeface="Calibri"/>
              </a:rPr>
              <a:t>Rajalakshmi Engineering College 		</a:t>
            </a:r>
            <a:fld id="{00000000-1234-1234-1234-123412341234}" type="slidenum">
              <a:rPr lang="en-US" sz="1600">
                <a:solidFill>
                  <a:srgbClr val="FFFFFF"/>
                </a:solidFill>
                <a:latin typeface="Calibri"/>
                <a:ea typeface="Calibri"/>
                <a:cs typeface="Calibri"/>
                <a:sym typeface="Calibri"/>
              </a:rPr>
              <a:t>‹#›</a:t>
            </a:fld>
            <a:endParaRPr sz="1600">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Open Sans ExtraBold"/>
              <a:buNone/>
              <a:defRPr>
                <a:latin typeface="Open Sans ExtraBold"/>
                <a:ea typeface="Open Sans ExtraBold"/>
                <a:cs typeface="Open Sans ExtraBold"/>
                <a:sym typeface="Open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docs.uipath.co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3"/>
          <p:cNvPicPr preferRelativeResize="0"/>
          <p:nvPr/>
        </p:nvPicPr>
        <p:blipFill rotWithShape="1">
          <a:blip r:embed="rId3">
            <a:alphaModFix/>
          </a:blip>
          <a:srcRect b="-30897" l="-776" r="776" t="63278"/>
          <a:stretch/>
        </p:blipFill>
        <p:spPr>
          <a:xfrm>
            <a:off x="-72010" y="-2532"/>
            <a:ext cx="9216010" cy="3231811"/>
          </a:xfrm>
          <a:prstGeom prst="rect">
            <a:avLst/>
          </a:prstGeom>
          <a:noFill/>
          <a:ln>
            <a:noFill/>
          </a:ln>
        </p:spPr>
      </p:pic>
      <p:grpSp>
        <p:nvGrpSpPr>
          <p:cNvPr id="89" name="Google Shape;89;p13"/>
          <p:cNvGrpSpPr/>
          <p:nvPr/>
        </p:nvGrpSpPr>
        <p:grpSpPr>
          <a:xfrm>
            <a:off x="-14748" y="986564"/>
            <a:ext cx="9158748" cy="5149141"/>
            <a:chOff x="-14748" y="986564"/>
            <a:chExt cx="9158748" cy="5149141"/>
          </a:xfrm>
        </p:grpSpPr>
        <p:sp>
          <p:nvSpPr>
            <p:cNvPr id="90" name="Google Shape;90;p13"/>
            <p:cNvSpPr txBox="1"/>
            <p:nvPr/>
          </p:nvSpPr>
          <p:spPr>
            <a:xfrm>
              <a:off x="177781" y="4812105"/>
              <a:ext cx="4322100" cy="1323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220701105</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Jayen Senthilkumar</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Guide Name</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Student of CSE department</a:t>
              </a:r>
              <a:endParaRPr b="1" sz="2000">
                <a:solidFill>
                  <a:schemeClr val="dk1"/>
                </a:solidFill>
                <a:latin typeface="Calibri"/>
                <a:ea typeface="Calibri"/>
                <a:cs typeface="Calibri"/>
                <a:sym typeface="Calibri"/>
              </a:endParaRPr>
            </a:p>
          </p:txBody>
        </p:sp>
        <p:grpSp>
          <p:nvGrpSpPr>
            <p:cNvPr id="91" name="Google Shape;91;p13"/>
            <p:cNvGrpSpPr/>
            <p:nvPr/>
          </p:nvGrpSpPr>
          <p:grpSpPr>
            <a:xfrm>
              <a:off x="-14748" y="986564"/>
              <a:ext cx="9158748" cy="3628907"/>
              <a:chOff x="-14748" y="986564"/>
              <a:chExt cx="9158748" cy="3628907"/>
            </a:xfrm>
          </p:grpSpPr>
          <p:sp>
            <p:nvSpPr>
              <p:cNvPr id="92" name="Google Shape;92;p13"/>
              <p:cNvSpPr/>
              <p:nvPr/>
            </p:nvSpPr>
            <p:spPr>
              <a:xfrm>
                <a:off x="5003203" y="1761199"/>
                <a:ext cx="4140797" cy="2622445"/>
              </a:xfrm>
              <a:custGeom>
                <a:rect b="b" l="l" r="r" t="t"/>
                <a:pathLst>
                  <a:path extrusionOk="0" h="2622445" w="4140797">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 name="Google Shape;93;p13"/>
              <p:cNvSpPr/>
              <p:nvPr/>
            </p:nvSpPr>
            <p:spPr>
              <a:xfrm>
                <a:off x="0" y="1529371"/>
                <a:ext cx="5743977" cy="3086100"/>
              </a:xfrm>
              <a:prstGeom prst="homePlate">
                <a:avLst>
                  <a:gd fmla="val 50000" name="adj"/>
                </a:avLst>
              </a:prstGeom>
              <a:solidFill>
                <a:srgbClr val="59595B"/>
              </a:solidFill>
              <a:ln cap="flat" cmpd="sng" w="25400">
                <a:solidFill>
                  <a:srgbClr val="59595B"/>
                </a:solidFill>
                <a:prstDash val="solid"/>
                <a:round/>
                <a:headEnd len="sm" w="sm" type="none"/>
                <a:tailEnd len="sm" w="sm" type="none"/>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4" name="Google Shape;94;p13"/>
              <p:cNvGrpSpPr/>
              <p:nvPr/>
            </p:nvGrpSpPr>
            <p:grpSpPr>
              <a:xfrm>
                <a:off x="-14748" y="986564"/>
                <a:ext cx="4014973" cy="1075928"/>
                <a:chOff x="-19391" y="1011603"/>
                <a:chExt cx="5278947" cy="1075928"/>
              </a:xfrm>
            </p:grpSpPr>
            <p:sp>
              <p:nvSpPr>
                <p:cNvPr id="95" name="Google Shape;95;p13"/>
                <p:cNvSpPr/>
                <p:nvPr/>
              </p:nvSpPr>
              <p:spPr>
                <a:xfrm>
                  <a:off x="-19391" y="1011603"/>
                  <a:ext cx="5278947" cy="1075928"/>
                </a:xfrm>
                <a:prstGeom prst="homePlate">
                  <a:avLst>
                    <a:gd fmla="val 50000" name="adj"/>
                  </a:avLst>
                </a:prstGeom>
                <a:solidFill>
                  <a:srgbClr val="00AAAD"/>
                </a:solidFill>
                <a:ln>
                  <a:noFill/>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 name="Google Shape;96;p13"/>
                <p:cNvSpPr txBox="1"/>
                <p:nvPr/>
              </p:nvSpPr>
              <p:spPr>
                <a:xfrm>
                  <a:off x="237041" y="1195624"/>
                  <a:ext cx="4182000" cy="7080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chemeClr val="lt1"/>
                      </a:solidFill>
                      <a:latin typeface="Calibri"/>
                      <a:ea typeface="Calibri"/>
                      <a:cs typeface="Calibri"/>
                      <a:sym typeface="Calibri"/>
                    </a:rPr>
                    <a:t>Introduction to </a:t>
                  </a:r>
                  <a:endParaRPr/>
                </a:p>
                <a:p>
                  <a:pPr indent="0" lvl="0" marL="0" marR="0" rtl="0" algn="ctr">
                    <a:spcBef>
                      <a:spcPts val="0"/>
                    </a:spcBef>
                    <a:spcAft>
                      <a:spcPts val="0"/>
                    </a:spcAft>
                    <a:buNone/>
                  </a:pPr>
                  <a:r>
                    <a:rPr b="1" lang="en-US" sz="2000">
                      <a:solidFill>
                        <a:schemeClr val="lt1"/>
                      </a:solidFill>
                      <a:latin typeface="Calibri"/>
                      <a:ea typeface="Calibri"/>
                      <a:cs typeface="Calibri"/>
                      <a:sym typeface="Calibri"/>
                    </a:rPr>
                    <a:t>Robotic Process Automation </a:t>
                  </a:r>
                  <a:endParaRPr b="1" sz="2000">
                    <a:solidFill>
                      <a:schemeClr val="lt1"/>
                    </a:solidFill>
                    <a:latin typeface="Calibri"/>
                    <a:ea typeface="Calibri"/>
                    <a:cs typeface="Calibri"/>
                    <a:sym typeface="Calibri"/>
                  </a:endParaRPr>
                </a:p>
              </p:txBody>
            </p:sp>
          </p:grpSp>
          <p:sp>
            <p:nvSpPr>
              <p:cNvPr id="97" name="Google Shape;97;p13"/>
              <p:cNvSpPr txBox="1"/>
              <p:nvPr/>
            </p:nvSpPr>
            <p:spPr>
              <a:xfrm>
                <a:off x="177782" y="2100903"/>
                <a:ext cx="4188156"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5400">
                    <a:solidFill>
                      <a:schemeClr val="lt1"/>
                    </a:solidFill>
                    <a:latin typeface="Calibri"/>
                    <a:ea typeface="Calibri"/>
                    <a:cs typeface="Calibri"/>
                    <a:sym typeface="Calibri"/>
                  </a:rPr>
                  <a:t>Title of the Project</a:t>
                </a:r>
                <a:endParaRPr/>
              </a:p>
            </p:txBody>
          </p:sp>
          <p:sp>
            <p:nvSpPr>
              <p:cNvPr id="98" name="Google Shape;98;p13"/>
              <p:cNvSpPr/>
              <p:nvPr/>
            </p:nvSpPr>
            <p:spPr>
              <a:xfrm>
                <a:off x="4652237" y="1529372"/>
                <a:ext cx="1672363" cy="3086099"/>
              </a:xfrm>
              <a:custGeom>
                <a:rect b="b" l="l" r="r" t="t"/>
                <a:pathLst>
                  <a:path extrusionOk="0" h="3086099" w="1672363">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id="99" name="Google Shape;99;p13"/>
          <p:cNvPicPr preferRelativeResize="0"/>
          <p:nvPr/>
        </p:nvPicPr>
        <p:blipFill rotWithShape="1">
          <a:blip r:embed="rId4">
            <a:alphaModFix/>
          </a:blip>
          <a:srcRect b="0" l="0" r="0" t="0"/>
          <a:stretch/>
        </p:blipFill>
        <p:spPr>
          <a:xfrm>
            <a:off x="7128284" y="4441459"/>
            <a:ext cx="1813542" cy="15415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4"/>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Abstract</a:t>
            </a:r>
            <a:endParaRPr>
              <a:latin typeface="Calibri"/>
              <a:ea typeface="Calibri"/>
              <a:cs typeface="Calibri"/>
              <a:sym typeface="Calibri"/>
            </a:endParaRPr>
          </a:p>
        </p:txBody>
      </p:sp>
      <p:sp>
        <p:nvSpPr>
          <p:cNvPr id="106" name="Google Shape;106;p14"/>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330200" lvl="0" marL="342900" rtl="0" algn="l">
              <a:lnSpc>
                <a:spcPct val="114000"/>
              </a:lnSpc>
              <a:spcBef>
                <a:spcPts val="0"/>
              </a:spcBef>
              <a:spcAft>
                <a:spcPts val="0"/>
              </a:spcAft>
              <a:buClr>
                <a:schemeClr val="dk1"/>
              </a:buClr>
              <a:buSzPts val="2200"/>
              <a:buFont typeface="Noto Sans Symbols"/>
              <a:buChar char="▪"/>
            </a:pPr>
            <a:r>
              <a:rPr lang="en-US" sz="2200">
                <a:latin typeface="Arial"/>
                <a:ea typeface="Arial"/>
                <a:cs typeface="Arial"/>
                <a:sym typeface="Arial"/>
              </a:rPr>
              <a:t>The </a:t>
            </a:r>
            <a:r>
              <a:rPr b="1" lang="en-US" sz="2200">
                <a:latin typeface="Arial"/>
                <a:ea typeface="Arial"/>
                <a:cs typeface="Arial"/>
                <a:sym typeface="Arial"/>
              </a:rPr>
              <a:t>Shipping Cost Calculation Automation Project</a:t>
            </a:r>
            <a:r>
              <a:rPr lang="en-US" sz="2200">
                <a:latin typeface="Arial"/>
                <a:ea typeface="Arial"/>
                <a:cs typeface="Arial"/>
                <a:sym typeface="Arial"/>
              </a:rPr>
              <a:t> leverages </a:t>
            </a:r>
            <a:r>
              <a:rPr b="1" lang="en-US" sz="2200">
                <a:latin typeface="Arial"/>
                <a:ea typeface="Arial"/>
                <a:cs typeface="Arial"/>
                <a:sym typeface="Arial"/>
              </a:rPr>
              <a:t>UiPath</a:t>
            </a:r>
            <a:r>
              <a:rPr lang="en-US" sz="2200">
                <a:latin typeface="Arial"/>
                <a:ea typeface="Arial"/>
                <a:cs typeface="Arial"/>
                <a:sym typeface="Arial"/>
              </a:rPr>
              <a:t> to automate the process of obtaining shipping quotes from courier websites like UPS. It collects user inputs for shipping details, including sender and recipient addresses, package weight, and dimensions, and inputs this data into the courier’s online form. The automation retrieves the calculated shipping cost and displays it directly to the user in a message box. By eliminating manual effort and reducing errors, this project ensures quick and accurate shipping cost estimation, showcasing the effectiveness of robotic process automation in streamlining logistics tasks.</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5"/>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Need for the Proposed System</a:t>
            </a:r>
            <a:endParaRPr>
              <a:latin typeface="Calibri"/>
              <a:ea typeface="Calibri"/>
              <a:cs typeface="Calibri"/>
              <a:sym typeface="Calibri"/>
            </a:endParaRPr>
          </a:p>
        </p:txBody>
      </p:sp>
      <p:sp>
        <p:nvSpPr>
          <p:cNvPr id="113" name="Google Shape;113;p15"/>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298450" lvl="0" marL="342900" rtl="0" algn="l">
              <a:lnSpc>
                <a:spcPct val="115000"/>
              </a:lnSpc>
              <a:spcBef>
                <a:spcPts val="1200"/>
              </a:spcBef>
              <a:spcAft>
                <a:spcPts val="0"/>
              </a:spcAft>
              <a:buSzPts val="1700"/>
              <a:buChar char="▪"/>
            </a:pPr>
            <a:r>
              <a:rPr lang="en-US" sz="1700">
                <a:latin typeface="Arial"/>
                <a:ea typeface="Arial"/>
                <a:cs typeface="Arial"/>
                <a:sym typeface="Arial"/>
              </a:rPr>
              <a:t>The proposed </a:t>
            </a:r>
            <a:r>
              <a:rPr b="1" lang="en-US" sz="1700">
                <a:latin typeface="Arial"/>
                <a:ea typeface="Arial"/>
                <a:cs typeface="Arial"/>
                <a:sym typeface="Arial"/>
              </a:rPr>
              <a:t>Shipping Cost Calculator</a:t>
            </a:r>
            <a:r>
              <a:rPr lang="en-US" sz="1700">
                <a:latin typeface="Arial"/>
                <a:ea typeface="Arial"/>
                <a:cs typeface="Arial"/>
                <a:sym typeface="Arial"/>
              </a:rPr>
              <a:t> addresses the challenges associated with manually calculating shipping costs, which often involve repetitive data entry, potential errors, and time-consuming processes. In traditional methods, users must input shipping details multiple times, navigate through complex courier websites, and manually note the results, which can lead to inefficiencies and inaccuracies.</a:t>
            </a:r>
            <a:endParaRPr sz="1700">
              <a:latin typeface="Arial"/>
              <a:ea typeface="Arial"/>
              <a:cs typeface="Arial"/>
              <a:sym typeface="Arial"/>
            </a:endParaRPr>
          </a:p>
          <a:p>
            <a:pPr indent="-298450" lvl="0" marL="342900" rtl="0" algn="l">
              <a:lnSpc>
                <a:spcPct val="115000"/>
              </a:lnSpc>
              <a:spcBef>
                <a:spcPts val="0"/>
              </a:spcBef>
              <a:spcAft>
                <a:spcPts val="0"/>
              </a:spcAft>
              <a:buSzPts val="1700"/>
              <a:buChar char="▪"/>
            </a:pPr>
            <a:r>
              <a:rPr lang="en-US" sz="1700">
                <a:latin typeface="Arial"/>
                <a:ea typeface="Arial"/>
                <a:cs typeface="Arial"/>
                <a:sym typeface="Arial"/>
              </a:rPr>
              <a:t>The system automates these tasks by leveraging </a:t>
            </a:r>
            <a:r>
              <a:rPr b="1" lang="en-US" sz="1700">
                <a:latin typeface="Arial"/>
                <a:ea typeface="Arial"/>
                <a:cs typeface="Arial"/>
                <a:sym typeface="Arial"/>
              </a:rPr>
              <a:t>UiPath</a:t>
            </a:r>
            <a:r>
              <a:rPr lang="en-US" sz="1700">
                <a:latin typeface="Arial"/>
                <a:ea typeface="Arial"/>
                <a:cs typeface="Arial"/>
                <a:sym typeface="Arial"/>
              </a:rPr>
              <a:t> to streamline the process. Users can simply input shipping details, and the system automatically interacts with the courier website (e.g., UPS) to fetch and display the shipping quote in real time. This reduces the workload, ensures data accuracy, and saves significant time.</a:t>
            </a:r>
            <a:endParaRPr sz="1700">
              <a:latin typeface="Arial"/>
              <a:ea typeface="Arial"/>
              <a:cs typeface="Arial"/>
              <a:sym typeface="Arial"/>
            </a:endParaRPr>
          </a:p>
          <a:p>
            <a:pPr indent="-298450" lvl="0" marL="342900" rtl="0" algn="l">
              <a:lnSpc>
                <a:spcPct val="115000"/>
              </a:lnSpc>
              <a:spcBef>
                <a:spcPts val="0"/>
              </a:spcBef>
              <a:spcAft>
                <a:spcPts val="0"/>
              </a:spcAft>
              <a:buSzPts val="1700"/>
              <a:buChar char="▪"/>
            </a:pPr>
            <a:r>
              <a:rPr lang="en-US" sz="1700">
                <a:latin typeface="Arial"/>
                <a:ea typeface="Arial"/>
                <a:cs typeface="Arial"/>
                <a:sym typeface="Arial"/>
              </a:rPr>
              <a:t>The need for such a system arises from the growing demand for faster and more reliable logistics solutions, especially in industries like e-commerce, manufacturing, and retail. Automating shipping cost calculations enhances operational efficiency, minimizes errors, and provides a scalable solution for businesses and individuals managing frequent shipping operations. The proposed system simplifies this critical process, making it more accessible and user-friendly.</a:t>
            </a:r>
            <a:endParaRPr sz="1700">
              <a:latin typeface="Arial"/>
              <a:ea typeface="Arial"/>
              <a:cs typeface="Arial"/>
              <a:sym typeface="Arial"/>
            </a:endParaRPr>
          </a:p>
          <a:p>
            <a:pPr indent="0" lvl="0" marL="342900" rtl="0" algn="l">
              <a:lnSpc>
                <a:spcPct val="114000"/>
              </a:lnSpc>
              <a:spcBef>
                <a:spcPts val="1200"/>
              </a:spcBef>
              <a:spcAft>
                <a:spcPts val="0"/>
              </a:spcAft>
              <a:buNone/>
            </a:pPr>
            <a:r>
              <a:t/>
            </a:r>
            <a:endParaRPr sz="1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6"/>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Advantages of the Proposed System</a:t>
            </a:r>
            <a:endParaRPr>
              <a:latin typeface="Calibri"/>
              <a:ea typeface="Calibri"/>
              <a:cs typeface="Calibri"/>
              <a:sym typeface="Calibri"/>
            </a:endParaRPr>
          </a:p>
        </p:txBody>
      </p:sp>
      <p:sp>
        <p:nvSpPr>
          <p:cNvPr id="120" name="Google Shape;120;p16"/>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lnSpcReduction="20000"/>
          </a:bodyPr>
          <a:lstStyle/>
          <a:p>
            <a:pPr indent="0" lvl="0" marL="342900" rtl="0" algn="l">
              <a:lnSpc>
                <a:spcPct val="115000"/>
              </a:lnSpc>
              <a:spcBef>
                <a:spcPts val="1200"/>
              </a:spcBef>
              <a:spcAft>
                <a:spcPts val="0"/>
              </a:spcAft>
              <a:buNone/>
            </a:pPr>
            <a:r>
              <a:t/>
            </a:r>
            <a:endParaRPr sz="1857">
              <a:latin typeface="Arial"/>
              <a:ea typeface="Arial"/>
              <a:cs typeface="Arial"/>
              <a:sym typeface="Arial"/>
            </a:endParaRPr>
          </a:p>
          <a:p>
            <a:pPr indent="-292100" lvl="0" marL="342900" rtl="0" algn="l">
              <a:lnSpc>
                <a:spcPct val="115000"/>
              </a:lnSpc>
              <a:spcBef>
                <a:spcPts val="1200"/>
              </a:spcBef>
              <a:spcAft>
                <a:spcPts val="0"/>
              </a:spcAft>
              <a:buSzPts val="1600"/>
              <a:buFont typeface="Arial"/>
              <a:buChar char="▪"/>
            </a:pPr>
            <a:r>
              <a:rPr b="1" lang="en-US" sz="1600">
                <a:latin typeface="Arial"/>
                <a:ea typeface="Arial"/>
                <a:cs typeface="Arial"/>
                <a:sym typeface="Arial"/>
              </a:rPr>
              <a:t>Error Reduction</a:t>
            </a:r>
            <a:r>
              <a:rPr lang="en-US" sz="1600">
                <a:latin typeface="Arial"/>
                <a:ea typeface="Arial"/>
                <a:cs typeface="Arial"/>
                <a:sym typeface="Arial"/>
              </a:rPr>
              <a:t>:</a:t>
            </a:r>
            <a:br>
              <a:rPr lang="en-US" sz="1600">
                <a:latin typeface="Arial"/>
                <a:ea typeface="Arial"/>
                <a:cs typeface="Arial"/>
                <a:sym typeface="Arial"/>
              </a:rPr>
            </a:br>
            <a:r>
              <a:rPr lang="en-US" sz="1600">
                <a:latin typeface="Arial"/>
                <a:ea typeface="Arial"/>
                <a:cs typeface="Arial"/>
                <a:sym typeface="Arial"/>
              </a:rPr>
              <a:t>By automating data entry and extraction, the system minimizes the risk of human errors, ensuring more accurate and reliable shipping cost calculations.</a:t>
            </a:r>
            <a:endParaRPr sz="1600">
              <a:latin typeface="Arial"/>
              <a:ea typeface="Arial"/>
              <a:cs typeface="Arial"/>
              <a:sym typeface="Arial"/>
            </a:endParaRPr>
          </a:p>
          <a:p>
            <a:pPr indent="-292100" lvl="0" marL="342900" rtl="0" algn="l">
              <a:lnSpc>
                <a:spcPct val="115000"/>
              </a:lnSpc>
              <a:spcBef>
                <a:spcPts val="0"/>
              </a:spcBef>
              <a:spcAft>
                <a:spcPts val="0"/>
              </a:spcAft>
              <a:buSzPts val="1600"/>
              <a:buFont typeface="Arial"/>
              <a:buChar char="▪"/>
            </a:pPr>
            <a:r>
              <a:rPr b="1" lang="en-US" sz="1600">
                <a:latin typeface="Arial"/>
                <a:ea typeface="Arial"/>
                <a:cs typeface="Arial"/>
                <a:sym typeface="Arial"/>
              </a:rPr>
              <a:t>Real-Time Results</a:t>
            </a:r>
            <a:r>
              <a:rPr lang="en-US" sz="1600">
                <a:latin typeface="Arial"/>
                <a:ea typeface="Arial"/>
                <a:cs typeface="Arial"/>
                <a:sym typeface="Arial"/>
              </a:rPr>
              <a:t>:</a:t>
            </a:r>
            <a:br>
              <a:rPr lang="en-US" sz="1600">
                <a:latin typeface="Arial"/>
                <a:ea typeface="Arial"/>
                <a:cs typeface="Arial"/>
                <a:sym typeface="Arial"/>
              </a:rPr>
            </a:br>
            <a:r>
              <a:rPr lang="en-US" sz="1600">
                <a:latin typeface="Arial"/>
                <a:ea typeface="Arial"/>
                <a:cs typeface="Arial"/>
                <a:sym typeface="Arial"/>
              </a:rPr>
              <a:t>The shipping quote is retrieved and displayed instantly, providing users with quick and actionable information.</a:t>
            </a:r>
            <a:endParaRPr sz="1600">
              <a:latin typeface="Arial"/>
              <a:ea typeface="Arial"/>
              <a:cs typeface="Arial"/>
              <a:sym typeface="Arial"/>
            </a:endParaRPr>
          </a:p>
          <a:p>
            <a:pPr indent="-292100" lvl="0" marL="342900" rtl="0" algn="l">
              <a:lnSpc>
                <a:spcPct val="115000"/>
              </a:lnSpc>
              <a:spcBef>
                <a:spcPts val="0"/>
              </a:spcBef>
              <a:spcAft>
                <a:spcPts val="0"/>
              </a:spcAft>
              <a:buSzPts val="1600"/>
              <a:buFont typeface="Arial"/>
              <a:buChar char="▪"/>
            </a:pPr>
            <a:r>
              <a:rPr b="1" lang="en-US" sz="1600">
                <a:latin typeface="Arial"/>
                <a:ea typeface="Arial"/>
                <a:cs typeface="Arial"/>
                <a:sym typeface="Arial"/>
              </a:rPr>
              <a:t>Consistency</a:t>
            </a:r>
            <a:r>
              <a:rPr lang="en-US" sz="1600">
                <a:latin typeface="Arial"/>
                <a:ea typeface="Arial"/>
                <a:cs typeface="Arial"/>
                <a:sym typeface="Arial"/>
              </a:rPr>
              <a:t>:</a:t>
            </a:r>
            <a:br>
              <a:rPr lang="en-US" sz="1600">
                <a:latin typeface="Arial"/>
                <a:ea typeface="Arial"/>
                <a:cs typeface="Arial"/>
                <a:sym typeface="Arial"/>
              </a:rPr>
            </a:br>
            <a:r>
              <a:rPr lang="en-US" sz="1600">
                <a:latin typeface="Arial"/>
                <a:ea typeface="Arial"/>
                <a:cs typeface="Arial"/>
                <a:sym typeface="Arial"/>
              </a:rPr>
              <a:t>The system ensures consistent performance and results regardless of the frequency of usage, making it ideal for repetitive tasks.</a:t>
            </a:r>
            <a:endParaRPr sz="1600">
              <a:latin typeface="Arial"/>
              <a:ea typeface="Arial"/>
              <a:cs typeface="Arial"/>
              <a:sym typeface="Arial"/>
            </a:endParaRPr>
          </a:p>
          <a:p>
            <a:pPr indent="-292100" lvl="0" marL="342900" rtl="0" algn="l">
              <a:lnSpc>
                <a:spcPct val="115000"/>
              </a:lnSpc>
              <a:spcBef>
                <a:spcPts val="0"/>
              </a:spcBef>
              <a:spcAft>
                <a:spcPts val="0"/>
              </a:spcAft>
              <a:buSzPts val="1600"/>
              <a:buFont typeface="Arial"/>
              <a:buChar char="▪"/>
            </a:pPr>
            <a:r>
              <a:rPr b="1" lang="en-US" sz="1600">
                <a:latin typeface="Arial"/>
                <a:ea typeface="Arial"/>
                <a:cs typeface="Arial"/>
                <a:sym typeface="Arial"/>
              </a:rPr>
              <a:t>Scalability</a:t>
            </a:r>
            <a:r>
              <a:rPr lang="en-US" sz="1600">
                <a:latin typeface="Arial"/>
                <a:ea typeface="Arial"/>
                <a:cs typeface="Arial"/>
                <a:sym typeface="Arial"/>
              </a:rPr>
              <a:t>:</a:t>
            </a:r>
            <a:br>
              <a:rPr lang="en-US" sz="1600">
                <a:latin typeface="Arial"/>
                <a:ea typeface="Arial"/>
                <a:cs typeface="Arial"/>
                <a:sym typeface="Arial"/>
              </a:rPr>
            </a:br>
            <a:r>
              <a:rPr lang="en-US" sz="1600">
                <a:latin typeface="Arial"/>
                <a:ea typeface="Arial"/>
                <a:cs typeface="Arial"/>
                <a:sym typeface="Arial"/>
              </a:rPr>
              <a:t>The automation can be expanded to include multiple courier websites, additional input parameters, or integrated reporting functionalities.</a:t>
            </a:r>
            <a:endParaRPr sz="1600">
              <a:latin typeface="Arial"/>
              <a:ea typeface="Arial"/>
              <a:cs typeface="Arial"/>
              <a:sym typeface="Arial"/>
            </a:endParaRPr>
          </a:p>
          <a:p>
            <a:pPr indent="-292100" lvl="0" marL="342900" rtl="0" algn="l">
              <a:lnSpc>
                <a:spcPct val="115000"/>
              </a:lnSpc>
              <a:spcBef>
                <a:spcPts val="0"/>
              </a:spcBef>
              <a:spcAft>
                <a:spcPts val="0"/>
              </a:spcAft>
              <a:buSzPts val="1600"/>
              <a:buFont typeface="Arial"/>
              <a:buChar char="▪"/>
            </a:pPr>
            <a:r>
              <a:rPr b="1" lang="en-US" sz="1600">
                <a:latin typeface="Arial"/>
                <a:ea typeface="Arial"/>
                <a:cs typeface="Arial"/>
                <a:sym typeface="Arial"/>
              </a:rPr>
              <a:t>Reduced Manual Effort</a:t>
            </a:r>
            <a:r>
              <a:rPr lang="en-US" sz="1600">
                <a:latin typeface="Arial"/>
                <a:ea typeface="Arial"/>
                <a:cs typeface="Arial"/>
                <a:sym typeface="Arial"/>
              </a:rPr>
              <a:t>:</a:t>
            </a:r>
            <a:br>
              <a:rPr lang="en-US" sz="1600">
                <a:latin typeface="Arial"/>
                <a:ea typeface="Arial"/>
                <a:cs typeface="Arial"/>
                <a:sym typeface="Arial"/>
              </a:rPr>
            </a:br>
            <a:r>
              <a:rPr lang="en-US" sz="1600">
                <a:latin typeface="Arial"/>
                <a:ea typeface="Arial"/>
                <a:cs typeface="Arial"/>
                <a:sym typeface="Arial"/>
              </a:rPr>
              <a:t>By automating repetitive tasks, the system reduces the workload for users, allowing them to focus on other critical operations.</a:t>
            </a:r>
            <a:endParaRPr sz="1600">
              <a:latin typeface="Arial"/>
              <a:ea typeface="Arial"/>
              <a:cs typeface="Arial"/>
              <a:sym typeface="Arial"/>
            </a:endParaRPr>
          </a:p>
          <a:p>
            <a:pPr indent="-292100" lvl="0" marL="342900" rtl="0" algn="l">
              <a:lnSpc>
                <a:spcPct val="115000"/>
              </a:lnSpc>
              <a:spcBef>
                <a:spcPts val="0"/>
              </a:spcBef>
              <a:spcAft>
                <a:spcPts val="0"/>
              </a:spcAft>
              <a:buSzPts val="1600"/>
              <a:buFont typeface="Arial"/>
              <a:buChar char="▪"/>
            </a:pPr>
            <a:r>
              <a:rPr b="1" lang="en-US" sz="1600">
                <a:latin typeface="Arial"/>
                <a:ea typeface="Arial"/>
                <a:cs typeface="Arial"/>
                <a:sym typeface="Arial"/>
              </a:rPr>
              <a:t>Improved Productivity</a:t>
            </a:r>
            <a:r>
              <a:rPr lang="en-US" sz="1600">
                <a:latin typeface="Arial"/>
                <a:ea typeface="Arial"/>
                <a:cs typeface="Arial"/>
                <a:sym typeface="Arial"/>
              </a:rPr>
              <a:t>:</a:t>
            </a:r>
            <a:br>
              <a:rPr lang="en-US" sz="1600">
                <a:latin typeface="Arial"/>
                <a:ea typeface="Arial"/>
                <a:cs typeface="Arial"/>
                <a:sym typeface="Arial"/>
              </a:rPr>
            </a:br>
            <a:r>
              <a:rPr lang="en-US" sz="1600">
                <a:latin typeface="Arial"/>
                <a:ea typeface="Arial"/>
                <a:cs typeface="Arial"/>
                <a:sym typeface="Arial"/>
              </a:rPr>
              <a:t>Automating shipping cost calculations allows businesses to handle more requests in less time, improving overall productivity.</a:t>
            </a:r>
            <a:endParaRPr sz="1600">
              <a:latin typeface="Arial"/>
              <a:ea typeface="Arial"/>
              <a:cs typeface="Arial"/>
              <a:sym typeface="Arial"/>
            </a:endParaRPr>
          </a:p>
          <a:p>
            <a:pPr indent="0" lvl="0" marL="0" rtl="0" algn="l">
              <a:lnSpc>
                <a:spcPct val="114000"/>
              </a:lnSpc>
              <a:spcBef>
                <a:spcPts val="12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7"/>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Literature Survey</a:t>
            </a:r>
            <a:endParaRPr>
              <a:latin typeface="Calibri"/>
              <a:ea typeface="Calibri"/>
              <a:cs typeface="Calibri"/>
              <a:sym typeface="Calibri"/>
            </a:endParaRPr>
          </a:p>
        </p:txBody>
      </p:sp>
      <p:sp>
        <p:nvSpPr>
          <p:cNvPr id="127" name="Google Shape;127;p17"/>
          <p:cNvSpPr txBox="1"/>
          <p:nvPr>
            <p:ph idx="1" type="body"/>
          </p:nvPr>
        </p:nvSpPr>
        <p:spPr>
          <a:xfrm>
            <a:off x="190500" y="914400"/>
            <a:ext cx="8763000" cy="53340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None/>
            </a:pPr>
            <a:r>
              <a:rPr b="1" lang="en-US" sz="1600">
                <a:latin typeface="Arial"/>
                <a:ea typeface="Arial"/>
                <a:cs typeface="Arial"/>
                <a:sym typeface="Arial"/>
              </a:rPr>
              <a:t>Paper 1: "Robotic Process Automation in Logistics: Enhancing Efficiency and Accuracy"</a:t>
            </a:r>
            <a:endParaRPr b="1" sz="1600">
              <a:latin typeface="Arial"/>
              <a:ea typeface="Arial"/>
              <a:cs typeface="Arial"/>
              <a:sym typeface="Arial"/>
            </a:endParaRPr>
          </a:p>
          <a:p>
            <a:pPr indent="-330200" lvl="0" marL="457200" rtl="0" algn="l">
              <a:lnSpc>
                <a:spcPct val="115000"/>
              </a:lnSpc>
              <a:spcBef>
                <a:spcPts val="1200"/>
              </a:spcBef>
              <a:spcAft>
                <a:spcPts val="0"/>
              </a:spcAft>
              <a:buSzPts val="1600"/>
              <a:buFont typeface="Arial"/>
              <a:buChar char="●"/>
            </a:pPr>
            <a:r>
              <a:rPr b="1" lang="en-US" sz="1600">
                <a:latin typeface="Arial"/>
                <a:ea typeface="Arial"/>
                <a:cs typeface="Arial"/>
                <a:sym typeface="Arial"/>
              </a:rPr>
              <a:t>Advantages</a:t>
            </a:r>
            <a:r>
              <a:rPr lang="en-US" sz="1600">
                <a:latin typeface="Arial"/>
                <a:ea typeface="Arial"/>
                <a:cs typeface="Arial"/>
                <a:sym typeface="Arial"/>
              </a:rPr>
              <a:t>:</a:t>
            </a:r>
            <a:endParaRPr sz="1600">
              <a:latin typeface="Arial"/>
              <a:ea typeface="Arial"/>
              <a:cs typeface="Arial"/>
              <a:sym typeface="Arial"/>
            </a:endParaRPr>
          </a:p>
          <a:p>
            <a:pPr indent="-330200" lvl="1" marL="914400" rtl="0" algn="l">
              <a:lnSpc>
                <a:spcPct val="115000"/>
              </a:lnSpc>
              <a:spcBef>
                <a:spcPts val="0"/>
              </a:spcBef>
              <a:spcAft>
                <a:spcPts val="0"/>
              </a:spcAft>
              <a:buSzPts val="1600"/>
              <a:buAutoNum type="arabicPeriod"/>
            </a:pPr>
            <a:r>
              <a:rPr lang="en-US" sz="1600">
                <a:latin typeface="Arial"/>
                <a:ea typeface="Arial"/>
                <a:cs typeface="Arial"/>
                <a:sym typeface="Arial"/>
              </a:rPr>
              <a:t>Demonstrates how RPA can streamline repetitive tasks, such as data entry and extraction.</a:t>
            </a:r>
            <a:endParaRPr sz="1600">
              <a:latin typeface="Arial"/>
              <a:ea typeface="Arial"/>
              <a:cs typeface="Arial"/>
              <a:sym typeface="Arial"/>
            </a:endParaRPr>
          </a:p>
          <a:p>
            <a:pPr indent="-330200" lvl="1" marL="914400" rtl="0" algn="l">
              <a:lnSpc>
                <a:spcPct val="115000"/>
              </a:lnSpc>
              <a:spcBef>
                <a:spcPts val="0"/>
              </a:spcBef>
              <a:spcAft>
                <a:spcPts val="0"/>
              </a:spcAft>
              <a:buSzPts val="1600"/>
              <a:buAutoNum type="arabicPeriod"/>
            </a:pPr>
            <a:r>
              <a:rPr lang="en-US" sz="1600">
                <a:latin typeface="Arial"/>
                <a:ea typeface="Arial"/>
                <a:cs typeface="Arial"/>
                <a:sym typeface="Arial"/>
              </a:rPr>
              <a:t>Reduces human error by automating calculations and interactions with web interfaces.</a:t>
            </a:r>
            <a:endParaRPr sz="1600">
              <a:latin typeface="Arial"/>
              <a:ea typeface="Arial"/>
              <a:cs typeface="Arial"/>
              <a:sym typeface="Arial"/>
            </a:endParaRPr>
          </a:p>
          <a:p>
            <a:pPr indent="-330200" lvl="1" marL="914400" rtl="0" algn="l">
              <a:lnSpc>
                <a:spcPct val="115000"/>
              </a:lnSpc>
              <a:spcBef>
                <a:spcPts val="0"/>
              </a:spcBef>
              <a:spcAft>
                <a:spcPts val="0"/>
              </a:spcAft>
              <a:buSzPts val="1600"/>
              <a:buAutoNum type="arabicPeriod"/>
            </a:pPr>
            <a:r>
              <a:rPr lang="en-US" sz="1600">
                <a:latin typeface="Arial"/>
                <a:ea typeface="Arial"/>
                <a:cs typeface="Arial"/>
                <a:sym typeface="Arial"/>
              </a:rPr>
              <a:t>Improves time efficiency in logistics operations.</a:t>
            </a:r>
            <a:endParaRPr sz="1600">
              <a:latin typeface="Arial"/>
              <a:ea typeface="Arial"/>
              <a:cs typeface="Arial"/>
              <a:sym typeface="Arial"/>
            </a:endParaRPr>
          </a:p>
          <a:p>
            <a:pPr indent="-330200" lvl="1" marL="914400" rtl="0" algn="l">
              <a:lnSpc>
                <a:spcPct val="115000"/>
              </a:lnSpc>
              <a:spcBef>
                <a:spcPts val="0"/>
              </a:spcBef>
              <a:spcAft>
                <a:spcPts val="0"/>
              </a:spcAft>
              <a:buSzPts val="1600"/>
              <a:buAutoNum type="arabicPeriod"/>
            </a:pPr>
            <a:r>
              <a:rPr lang="en-US" sz="1600">
                <a:latin typeface="Arial"/>
                <a:ea typeface="Arial"/>
                <a:cs typeface="Arial"/>
                <a:sym typeface="Arial"/>
              </a:rPr>
              <a:t>Scalable across multiple processes and platforms.</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Char char="●"/>
            </a:pPr>
            <a:r>
              <a:rPr b="1" lang="en-US" sz="1600">
                <a:latin typeface="Arial"/>
                <a:ea typeface="Arial"/>
                <a:cs typeface="Arial"/>
                <a:sym typeface="Arial"/>
              </a:rPr>
              <a:t>Disadvantages</a:t>
            </a:r>
            <a:r>
              <a:rPr lang="en-US" sz="1600">
                <a:latin typeface="Arial"/>
                <a:ea typeface="Arial"/>
                <a:cs typeface="Arial"/>
                <a:sym typeface="Arial"/>
              </a:rPr>
              <a:t>:</a:t>
            </a:r>
            <a:endParaRPr sz="1600">
              <a:latin typeface="Arial"/>
              <a:ea typeface="Arial"/>
              <a:cs typeface="Arial"/>
              <a:sym typeface="Arial"/>
            </a:endParaRPr>
          </a:p>
          <a:p>
            <a:pPr indent="-330200" lvl="1" marL="914400" rtl="0" algn="l">
              <a:lnSpc>
                <a:spcPct val="115000"/>
              </a:lnSpc>
              <a:spcBef>
                <a:spcPts val="0"/>
              </a:spcBef>
              <a:spcAft>
                <a:spcPts val="0"/>
              </a:spcAft>
              <a:buSzPts val="1600"/>
              <a:buAutoNum type="arabicPeriod"/>
            </a:pPr>
            <a:r>
              <a:rPr lang="en-US" sz="1600">
                <a:latin typeface="Arial"/>
                <a:ea typeface="Arial"/>
                <a:cs typeface="Arial"/>
                <a:sym typeface="Arial"/>
              </a:rPr>
              <a:t>Initial setup and configuration require technical expertise and can be time-consuming.</a:t>
            </a:r>
            <a:endParaRPr sz="1600">
              <a:latin typeface="Arial"/>
              <a:ea typeface="Arial"/>
              <a:cs typeface="Arial"/>
              <a:sym typeface="Arial"/>
            </a:endParaRPr>
          </a:p>
          <a:p>
            <a:pPr indent="-330200" lvl="1" marL="914400" rtl="0" algn="l">
              <a:lnSpc>
                <a:spcPct val="115000"/>
              </a:lnSpc>
              <a:spcBef>
                <a:spcPts val="0"/>
              </a:spcBef>
              <a:spcAft>
                <a:spcPts val="0"/>
              </a:spcAft>
              <a:buSzPts val="1600"/>
              <a:buAutoNum type="arabicPeriod"/>
            </a:pPr>
            <a:r>
              <a:rPr lang="en-US" sz="1600">
                <a:latin typeface="Arial"/>
                <a:ea typeface="Arial"/>
                <a:cs typeface="Arial"/>
                <a:sym typeface="Arial"/>
              </a:rPr>
              <a:t>Dependency on the stability of external websites; changes in website structure may disrupt automation.</a:t>
            </a:r>
            <a:endParaRPr sz="1600">
              <a:latin typeface="Arial"/>
              <a:ea typeface="Arial"/>
              <a:cs typeface="Arial"/>
              <a:sym typeface="Arial"/>
            </a:endParaRPr>
          </a:p>
          <a:p>
            <a:pPr indent="-292100" lvl="0" marL="342900" rtl="0" algn="l">
              <a:spcBef>
                <a:spcPts val="480"/>
              </a:spcBef>
              <a:spcAft>
                <a:spcPts val="0"/>
              </a:spcAft>
              <a:buSzPts val="1600"/>
              <a:buChar char="▪"/>
            </a:pPr>
            <a:r>
              <a:t/>
            </a:r>
            <a:endParaRPr sz="1600"/>
          </a:p>
          <a:p>
            <a:pPr indent="-190500" lvl="0" marL="342900" rtl="0" algn="l">
              <a:lnSpc>
                <a:spcPct val="114000"/>
              </a:lnSpc>
              <a:spcBef>
                <a:spcPts val="480"/>
              </a:spcBef>
              <a:spcAft>
                <a:spcPts val="0"/>
              </a:spcAft>
              <a:buClr>
                <a:schemeClr val="dk1"/>
              </a:buClr>
              <a:buSzPts val="2400"/>
              <a:buFont typeface="Noto Sans Symbols"/>
              <a:buNone/>
            </a:pPr>
            <a:r>
              <a:t/>
            </a:r>
            <a:endParaRPr sz="1600"/>
          </a:p>
          <a:p>
            <a:pPr indent="-190500" lvl="0" marL="342900" rtl="0" algn="l">
              <a:lnSpc>
                <a:spcPct val="114000"/>
              </a:lnSpc>
              <a:spcBef>
                <a:spcPts val="480"/>
              </a:spcBef>
              <a:spcAft>
                <a:spcPts val="0"/>
              </a:spcAft>
              <a:buClr>
                <a:schemeClr val="dk1"/>
              </a:buClr>
              <a:buSzPts val="2400"/>
              <a:buFont typeface="Noto Sans Symbols"/>
              <a:buNone/>
            </a:pPr>
            <a:r>
              <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8"/>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Literature Survey</a:t>
            </a:r>
            <a:endParaRPr/>
          </a:p>
        </p:txBody>
      </p:sp>
      <p:sp>
        <p:nvSpPr>
          <p:cNvPr id="134" name="Google Shape;134;p18"/>
          <p:cNvSpPr txBox="1"/>
          <p:nvPr>
            <p:ph idx="1" type="body"/>
          </p:nvPr>
        </p:nvSpPr>
        <p:spPr>
          <a:xfrm>
            <a:off x="190500" y="990600"/>
            <a:ext cx="8763000" cy="53340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en-US" sz="1700">
                <a:latin typeface="Arial"/>
                <a:ea typeface="Arial"/>
                <a:cs typeface="Arial"/>
                <a:sym typeface="Arial"/>
              </a:rPr>
              <a:t>Paper 2: "Automation in Shipping Cost Calculation: A Case Study of Online Platforms"</a:t>
            </a:r>
            <a:endParaRPr b="1" sz="1700">
              <a:latin typeface="Arial"/>
              <a:ea typeface="Arial"/>
              <a:cs typeface="Arial"/>
              <a:sym typeface="Arial"/>
            </a:endParaRPr>
          </a:p>
          <a:p>
            <a:pPr indent="-336550" lvl="0" marL="457200" rtl="0" algn="l">
              <a:lnSpc>
                <a:spcPct val="115000"/>
              </a:lnSpc>
              <a:spcBef>
                <a:spcPts val="1200"/>
              </a:spcBef>
              <a:spcAft>
                <a:spcPts val="0"/>
              </a:spcAft>
              <a:buSzPts val="1700"/>
              <a:buFont typeface="Arial"/>
              <a:buChar char="●"/>
            </a:pPr>
            <a:r>
              <a:rPr b="1" lang="en-US" sz="1700">
                <a:latin typeface="Arial"/>
                <a:ea typeface="Arial"/>
                <a:cs typeface="Arial"/>
                <a:sym typeface="Arial"/>
              </a:rPr>
              <a:t>Advantages</a:t>
            </a:r>
            <a:r>
              <a:rPr lang="en-US" sz="1700">
                <a:latin typeface="Arial"/>
                <a:ea typeface="Arial"/>
                <a:cs typeface="Arial"/>
                <a:sym typeface="Arial"/>
              </a:rPr>
              <a:t>:</a:t>
            </a:r>
            <a:endParaRPr sz="1700">
              <a:latin typeface="Arial"/>
              <a:ea typeface="Arial"/>
              <a:cs typeface="Arial"/>
              <a:sym typeface="Arial"/>
            </a:endParaRPr>
          </a:p>
          <a:p>
            <a:pPr indent="-336550" lvl="1" marL="914400" rtl="0" algn="l">
              <a:lnSpc>
                <a:spcPct val="115000"/>
              </a:lnSpc>
              <a:spcBef>
                <a:spcPts val="0"/>
              </a:spcBef>
              <a:spcAft>
                <a:spcPts val="0"/>
              </a:spcAft>
              <a:buSzPts val="1700"/>
              <a:buAutoNum type="arabicPeriod"/>
            </a:pPr>
            <a:r>
              <a:rPr lang="en-US" sz="1700">
                <a:latin typeface="Arial"/>
                <a:ea typeface="Arial"/>
                <a:cs typeface="Arial"/>
                <a:sym typeface="Arial"/>
              </a:rPr>
              <a:t>Highlights the potential for quick cost retrieval using automated tools integrated with courier APIs or web interfaces.</a:t>
            </a:r>
            <a:endParaRPr sz="1700">
              <a:latin typeface="Arial"/>
              <a:ea typeface="Arial"/>
              <a:cs typeface="Arial"/>
              <a:sym typeface="Arial"/>
            </a:endParaRPr>
          </a:p>
          <a:p>
            <a:pPr indent="-336550" lvl="1" marL="914400" rtl="0" algn="l">
              <a:lnSpc>
                <a:spcPct val="115000"/>
              </a:lnSpc>
              <a:spcBef>
                <a:spcPts val="0"/>
              </a:spcBef>
              <a:spcAft>
                <a:spcPts val="0"/>
              </a:spcAft>
              <a:buSzPts val="1700"/>
              <a:buAutoNum type="arabicPeriod"/>
            </a:pPr>
            <a:r>
              <a:rPr lang="en-US" sz="1700">
                <a:latin typeface="Arial"/>
                <a:ea typeface="Arial"/>
                <a:cs typeface="Arial"/>
                <a:sym typeface="Arial"/>
              </a:rPr>
              <a:t>Demonstrates cost savings by reducing reliance on manual labor.</a:t>
            </a:r>
            <a:endParaRPr sz="1700">
              <a:latin typeface="Arial"/>
              <a:ea typeface="Arial"/>
              <a:cs typeface="Arial"/>
              <a:sym typeface="Arial"/>
            </a:endParaRPr>
          </a:p>
          <a:p>
            <a:pPr indent="-336550" lvl="1" marL="914400" rtl="0" algn="l">
              <a:lnSpc>
                <a:spcPct val="115000"/>
              </a:lnSpc>
              <a:spcBef>
                <a:spcPts val="0"/>
              </a:spcBef>
              <a:spcAft>
                <a:spcPts val="0"/>
              </a:spcAft>
              <a:buSzPts val="1700"/>
              <a:buAutoNum type="arabicPeriod"/>
            </a:pPr>
            <a:r>
              <a:rPr lang="en-US" sz="1700">
                <a:latin typeface="Arial"/>
                <a:ea typeface="Arial"/>
                <a:cs typeface="Arial"/>
                <a:sym typeface="Arial"/>
              </a:rPr>
              <a:t>Enhances customer satisfaction through faster response times.</a:t>
            </a:r>
            <a:endParaRPr sz="1700">
              <a:latin typeface="Arial"/>
              <a:ea typeface="Arial"/>
              <a:cs typeface="Arial"/>
              <a:sym typeface="Arial"/>
            </a:endParaRPr>
          </a:p>
          <a:p>
            <a:pPr indent="-336550" lvl="0" marL="457200" rtl="0" algn="l">
              <a:lnSpc>
                <a:spcPct val="115000"/>
              </a:lnSpc>
              <a:spcBef>
                <a:spcPts val="0"/>
              </a:spcBef>
              <a:spcAft>
                <a:spcPts val="0"/>
              </a:spcAft>
              <a:buSzPts val="1700"/>
              <a:buFont typeface="Arial"/>
              <a:buChar char="●"/>
            </a:pPr>
            <a:r>
              <a:rPr b="1" lang="en-US" sz="1700">
                <a:latin typeface="Arial"/>
                <a:ea typeface="Arial"/>
                <a:cs typeface="Arial"/>
                <a:sym typeface="Arial"/>
              </a:rPr>
              <a:t>Disadvantages</a:t>
            </a:r>
            <a:r>
              <a:rPr lang="en-US" sz="1700">
                <a:latin typeface="Arial"/>
                <a:ea typeface="Arial"/>
                <a:cs typeface="Arial"/>
                <a:sym typeface="Arial"/>
              </a:rPr>
              <a:t>:</a:t>
            </a:r>
            <a:endParaRPr sz="1700">
              <a:latin typeface="Arial"/>
              <a:ea typeface="Arial"/>
              <a:cs typeface="Arial"/>
              <a:sym typeface="Arial"/>
            </a:endParaRPr>
          </a:p>
          <a:p>
            <a:pPr indent="-336550" lvl="1" marL="914400" rtl="0" algn="l">
              <a:lnSpc>
                <a:spcPct val="115000"/>
              </a:lnSpc>
              <a:spcBef>
                <a:spcPts val="0"/>
              </a:spcBef>
              <a:spcAft>
                <a:spcPts val="0"/>
              </a:spcAft>
              <a:buSzPts val="1700"/>
              <a:buAutoNum type="arabicPeriod"/>
            </a:pPr>
            <a:r>
              <a:rPr lang="en-US" sz="1700">
                <a:latin typeface="Arial"/>
                <a:ea typeface="Arial"/>
                <a:cs typeface="Arial"/>
                <a:sym typeface="Arial"/>
              </a:rPr>
              <a:t>Limited flexibility to handle edge cases, such as unusual package dimensions or international regulations.</a:t>
            </a:r>
            <a:endParaRPr sz="1700">
              <a:latin typeface="Arial"/>
              <a:ea typeface="Arial"/>
              <a:cs typeface="Arial"/>
              <a:sym typeface="Arial"/>
            </a:endParaRPr>
          </a:p>
          <a:p>
            <a:pPr indent="-336550" lvl="1" marL="914400" rtl="0" algn="l">
              <a:lnSpc>
                <a:spcPct val="115000"/>
              </a:lnSpc>
              <a:spcBef>
                <a:spcPts val="0"/>
              </a:spcBef>
              <a:spcAft>
                <a:spcPts val="0"/>
              </a:spcAft>
              <a:buSzPts val="1700"/>
              <a:buAutoNum type="arabicPeriod"/>
            </a:pPr>
            <a:r>
              <a:rPr lang="en-US" sz="1700">
                <a:latin typeface="Arial"/>
                <a:ea typeface="Arial"/>
                <a:cs typeface="Arial"/>
                <a:sym typeface="Arial"/>
              </a:rPr>
              <a:t>Relies heavily on internet connectivity and external system availability, which can cause downtime.</a:t>
            </a:r>
            <a:endParaRPr sz="1700">
              <a:latin typeface="Arial"/>
              <a:ea typeface="Arial"/>
              <a:cs typeface="Arial"/>
              <a:sym typeface="Arial"/>
            </a:endParaRPr>
          </a:p>
          <a:p>
            <a:pPr indent="0" lvl="0" marL="0" rtl="0" algn="l">
              <a:spcBef>
                <a:spcPts val="1200"/>
              </a:spcBef>
              <a:spcAft>
                <a:spcPts val="0"/>
              </a:spcAft>
              <a:buNone/>
            </a:pPr>
            <a:r>
              <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9"/>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Main Objective</a:t>
            </a:r>
            <a:endParaRPr>
              <a:latin typeface="Calibri"/>
              <a:ea typeface="Calibri"/>
              <a:cs typeface="Calibri"/>
              <a:sym typeface="Calibri"/>
            </a:endParaRPr>
          </a:p>
        </p:txBody>
      </p:sp>
      <p:sp>
        <p:nvSpPr>
          <p:cNvPr id="141" name="Google Shape;141;p19"/>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406400" lvl="0" marL="342900" rtl="0" algn="l">
              <a:lnSpc>
                <a:spcPct val="115000"/>
              </a:lnSpc>
              <a:spcBef>
                <a:spcPts val="1200"/>
              </a:spcBef>
              <a:spcAft>
                <a:spcPts val="0"/>
              </a:spcAft>
              <a:buSzPts val="3400"/>
              <a:buChar char="▪"/>
            </a:pPr>
            <a:r>
              <a:rPr lang="en-US" sz="2100">
                <a:latin typeface="Arial"/>
                <a:ea typeface="Arial"/>
                <a:cs typeface="Arial"/>
                <a:sym typeface="Arial"/>
              </a:rPr>
              <a:t>The primary objective of the </a:t>
            </a:r>
            <a:r>
              <a:rPr b="1" lang="en-US" sz="2100">
                <a:latin typeface="Arial"/>
                <a:ea typeface="Arial"/>
                <a:cs typeface="Arial"/>
                <a:sym typeface="Arial"/>
              </a:rPr>
              <a:t>Shipping Cost Calculator Project</a:t>
            </a:r>
            <a:r>
              <a:rPr lang="en-US" sz="2100">
                <a:latin typeface="Arial"/>
                <a:ea typeface="Arial"/>
                <a:cs typeface="Arial"/>
                <a:sym typeface="Arial"/>
              </a:rPr>
              <a:t> is to develop a reliable, efficient, and user-friendly system that automates the process of calculating shipping costs by interacting with courier websites like UPS. The system aims to minimize manual effort, reduce errors, and provide real-time shipping cost information to users by automating data input, quote retrieval, and result display. By leveraging </a:t>
            </a:r>
            <a:r>
              <a:rPr b="1" lang="en-US" sz="2100">
                <a:latin typeface="Arial"/>
                <a:ea typeface="Arial"/>
                <a:cs typeface="Arial"/>
                <a:sym typeface="Arial"/>
              </a:rPr>
              <a:t>UiPath</a:t>
            </a:r>
            <a:r>
              <a:rPr lang="en-US" sz="2100">
                <a:latin typeface="Arial"/>
                <a:ea typeface="Arial"/>
                <a:cs typeface="Arial"/>
                <a:sym typeface="Arial"/>
              </a:rPr>
              <a:t>, the project seeks to streamline logistics operations and enhance productivity for businesses and individuals managing shipping tasks.</a:t>
            </a:r>
            <a:endParaRPr sz="2100">
              <a:latin typeface="Arial"/>
              <a:ea typeface="Arial"/>
              <a:cs typeface="Arial"/>
              <a:sym typeface="Arial"/>
            </a:endParaRPr>
          </a:p>
          <a:p>
            <a:pPr indent="0" lvl="0" marL="342900" rtl="0" algn="l">
              <a:lnSpc>
                <a:spcPct val="115000"/>
              </a:lnSpc>
              <a:spcBef>
                <a:spcPts val="12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0"/>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Architecture</a:t>
            </a:r>
            <a:endParaRPr>
              <a:latin typeface="Calibri"/>
              <a:ea typeface="Calibri"/>
              <a:cs typeface="Calibri"/>
              <a:sym typeface="Calibri"/>
            </a:endParaRPr>
          </a:p>
        </p:txBody>
      </p:sp>
      <p:sp>
        <p:nvSpPr>
          <p:cNvPr id="148" name="Google Shape;148;p20"/>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342900" rtl="0" algn="l">
              <a:lnSpc>
                <a:spcPct val="114000"/>
              </a:lnSpc>
              <a:spcBef>
                <a:spcPts val="0"/>
              </a:spcBef>
              <a:spcAft>
                <a:spcPts val="0"/>
              </a:spcAft>
              <a:buNone/>
            </a:pPr>
            <a:r>
              <a:t/>
            </a:r>
            <a:endParaRPr/>
          </a:p>
        </p:txBody>
      </p:sp>
      <p:pic>
        <p:nvPicPr>
          <p:cNvPr id="149" name="Google Shape;149;p20"/>
          <p:cNvPicPr preferRelativeResize="0"/>
          <p:nvPr/>
        </p:nvPicPr>
        <p:blipFill>
          <a:blip r:embed="rId3">
            <a:alphaModFix/>
          </a:blip>
          <a:stretch>
            <a:fillRect/>
          </a:stretch>
        </p:blipFill>
        <p:spPr>
          <a:xfrm>
            <a:off x="2954225" y="818400"/>
            <a:ext cx="2708975" cy="55062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1"/>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System Requirements</a:t>
            </a:r>
            <a:endParaRPr>
              <a:latin typeface="Calibri"/>
              <a:ea typeface="Calibri"/>
              <a:cs typeface="Calibri"/>
              <a:sym typeface="Calibri"/>
            </a:endParaRPr>
          </a:p>
        </p:txBody>
      </p:sp>
      <p:sp>
        <p:nvSpPr>
          <p:cNvPr id="156" name="Google Shape;156;p21"/>
          <p:cNvSpPr txBox="1"/>
          <p:nvPr>
            <p:ph idx="1" type="body"/>
          </p:nvPr>
        </p:nvSpPr>
        <p:spPr>
          <a:xfrm>
            <a:off x="190500" y="914400"/>
            <a:ext cx="8763000" cy="5334000"/>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14000"/>
              </a:lnSpc>
              <a:spcBef>
                <a:spcPts val="0"/>
              </a:spcBef>
              <a:spcAft>
                <a:spcPts val="0"/>
              </a:spcAft>
              <a:buClr>
                <a:schemeClr val="dk1"/>
              </a:buClr>
              <a:buSzPts val="2400"/>
              <a:buFont typeface="Noto Sans Symbols"/>
              <a:buChar char="▪"/>
            </a:pPr>
            <a:r>
              <a:rPr lang="en-US"/>
              <a:t>Hardware</a:t>
            </a:r>
            <a:endParaRPr/>
          </a:p>
          <a:p>
            <a:pPr indent="-190500" lvl="0" marL="342900" rtl="0" algn="l">
              <a:spcBef>
                <a:spcPts val="0"/>
              </a:spcBef>
              <a:spcAft>
                <a:spcPts val="0"/>
              </a:spcAft>
              <a:buNone/>
            </a:pPr>
            <a:r>
              <a:t/>
            </a:r>
            <a:endParaRPr b="1" sz="1600">
              <a:latin typeface="Arial"/>
              <a:ea typeface="Arial"/>
              <a:cs typeface="Arial"/>
              <a:sym typeface="Arial"/>
            </a:endParaRPr>
          </a:p>
          <a:p>
            <a:pPr indent="-190500" lvl="0" marL="342900" rtl="0" algn="l">
              <a:spcBef>
                <a:spcPts val="0"/>
              </a:spcBef>
              <a:spcAft>
                <a:spcPts val="0"/>
              </a:spcAft>
              <a:buNone/>
            </a:pPr>
            <a:r>
              <a:rPr b="1" lang="en-US" sz="1600">
                <a:latin typeface="Arial"/>
                <a:ea typeface="Arial"/>
                <a:cs typeface="Arial"/>
                <a:sym typeface="Arial"/>
              </a:rPr>
              <a:t>Processor</a:t>
            </a:r>
            <a:r>
              <a:rPr lang="en-US" sz="1600">
                <a:latin typeface="Arial"/>
                <a:ea typeface="Arial"/>
                <a:cs typeface="Arial"/>
                <a:sym typeface="Arial"/>
              </a:rPr>
              <a:t>:</a:t>
            </a:r>
            <a:endParaRPr sz="1600">
              <a:latin typeface="Arial"/>
              <a:ea typeface="Arial"/>
              <a:cs typeface="Arial"/>
              <a:sym typeface="Arial"/>
            </a:endParaRPr>
          </a:p>
          <a:p>
            <a:pPr indent="-330200" lvl="0" marL="457200" rtl="0" algn="l">
              <a:lnSpc>
                <a:spcPct val="115000"/>
              </a:lnSpc>
              <a:spcBef>
                <a:spcPts val="1200"/>
              </a:spcBef>
              <a:spcAft>
                <a:spcPts val="0"/>
              </a:spcAft>
              <a:buSzPts val="1600"/>
              <a:buFont typeface="Arial"/>
              <a:buChar char="●"/>
            </a:pPr>
            <a:r>
              <a:rPr lang="en-US" sz="1600">
                <a:latin typeface="Arial"/>
                <a:ea typeface="Arial"/>
                <a:cs typeface="Arial"/>
                <a:sym typeface="Arial"/>
              </a:rPr>
              <a:t>Intel Core i3 or higher / AMD equivalent (Recommended: Intel Core i5 or i7 for optimal performance).</a:t>
            </a:r>
            <a:endParaRPr sz="1600">
              <a:latin typeface="Arial"/>
              <a:ea typeface="Arial"/>
              <a:cs typeface="Arial"/>
              <a:sym typeface="Arial"/>
            </a:endParaRPr>
          </a:p>
          <a:p>
            <a:pPr indent="0" lvl="0" marL="0" rtl="0" algn="l">
              <a:lnSpc>
                <a:spcPct val="115000"/>
              </a:lnSpc>
              <a:spcBef>
                <a:spcPts val="1200"/>
              </a:spcBef>
              <a:spcAft>
                <a:spcPts val="0"/>
              </a:spcAft>
              <a:buNone/>
            </a:pPr>
            <a:r>
              <a:rPr b="1" lang="en-US" sz="1600">
                <a:latin typeface="Arial"/>
                <a:ea typeface="Arial"/>
                <a:cs typeface="Arial"/>
                <a:sym typeface="Arial"/>
              </a:rPr>
              <a:t>RAM</a:t>
            </a:r>
            <a:r>
              <a:rPr lang="en-US" sz="1600">
                <a:latin typeface="Arial"/>
                <a:ea typeface="Arial"/>
                <a:cs typeface="Arial"/>
                <a:sym typeface="Arial"/>
              </a:rPr>
              <a:t>:</a:t>
            </a:r>
            <a:endParaRPr sz="1600">
              <a:latin typeface="Arial"/>
              <a:ea typeface="Arial"/>
              <a:cs typeface="Arial"/>
              <a:sym typeface="Arial"/>
            </a:endParaRPr>
          </a:p>
          <a:p>
            <a:pPr indent="-330200" lvl="0" marL="457200" rtl="0" algn="l">
              <a:lnSpc>
                <a:spcPct val="115000"/>
              </a:lnSpc>
              <a:spcBef>
                <a:spcPts val="1200"/>
              </a:spcBef>
              <a:spcAft>
                <a:spcPts val="0"/>
              </a:spcAft>
              <a:buSzPts val="1600"/>
              <a:buFont typeface="Arial"/>
              <a:buChar char="●"/>
            </a:pPr>
            <a:r>
              <a:rPr lang="en-US" sz="1600">
                <a:latin typeface="Arial"/>
                <a:ea typeface="Arial"/>
                <a:cs typeface="Arial"/>
                <a:sym typeface="Arial"/>
              </a:rPr>
              <a:t>Minimum: 4 GB</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Char char="●"/>
            </a:pPr>
            <a:r>
              <a:rPr lang="en-US" sz="1600">
                <a:latin typeface="Arial"/>
                <a:ea typeface="Arial"/>
                <a:cs typeface="Arial"/>
                <a:sym typeface="Arial"/>
              </a:rPr>
              <a:t>Recommended: 8 GB or higher for smoother multitasking and handling multiple automation workflows.</a:t>
            </a:r>
            <a:endParaRPr sz="1600">
              <a:latin typeface="Arial"/>
              <a:ea typeface="Arial"/>
              <a:cs typeface="Arial"/>
              <a:sym typeface="Arial"/>
            </a:endParaRPr>
          </a:p>
          <a:p>
            <a:pPr indent="0" lvl="0" marL="0" rtl="0" algn="l">
              <a:lnSpc>
                <a:spcPct val="115000"/>
              </a:lnSpc>
              <a:spcBef>
                <a:spcPts val="1200"/>
              </a:spcBef>
              <a:spcAft>
                <a:spcPts val="0"/>
              </a:spcAft>
              <a:buNone/>
            </a:pPr>
            <a:r>
              <a:rPr b="1" lang="en-US" sz="1600">
                <a:latin typeface="Arial"/>
                <a:ea typeface="Arial"/>
                <a:cs typeface="Arial"/>
                <a:sym typeface="Arial"/>
              </a:rPr>
              <a:t>Storage</a:t>
            </a:r>
            <a:r>
              <a:rPr lang="en-US" sz="1600">
                <a:latin typeface="Arial"/>
                <a:ea typeface="Arial"/>
                <a:cs typeface="Arial"/>
                <a:sym typeface="Arial"/>
              </a:rPr>
              <a:t>:</a:t>
            </a:r>
            <a:endParaRPr sz="1600">
              <a:latin typeface="Arial"/>
              <a:ea typeface="Arial"/>
              <a:cs typeface="Arial"/>
              <a:sym typeface="Arial"/>
            </a:endParaRPr>
          </a:p>
          <a:p>
            <a:pPr indent="-330200" lvl="0" marL="457200" rtl="0" algn="l">
              <a:lnSpc>
                <a:spcPct val="115000"/>
              </a:lnSpc>
              <a:spcBef>
                <a:spcPts val="1200"/>
              </a:spcBef>
              <a:spcAft>
                <a:spcPts val="0"/>
              </a:spcAft>
              <a:buSzPts val="1600"/>
              <a:buFont typeface="Arial"/>
              <a:buChar char="●"/>
            </a:pPr>
            <a:r>
              <a:rPr lang="en-US" sz="1600">
                <a:latin typeface="Arial"/>
                <a:ea typeface="Arial"/>
                <a:cs typeface="Arial"/>
                <a:sym typeface="Arial"/>
              </a:rPr>
              <a:t>Minimum: 256 GB Hard Drive</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Char char="●"/>
            </a:pPr>
            <a:r>
              <a:rPr lang="en-US" sz="1600">
                <a:latin typeface="Arial"/>
                <a:ea typeface="Arial"/>
                <a:cs typeface="Arial"/>
                <a:sym typeface="Arial"/>
              </a:rPr>
              <a:t>Recommended: 512 GB SSD or higher for faster read/write speeds.</a:t>
            </a:r>
            <a:endParaRPr sz="1600">
              <a:latin typeface="Arial"/>
              <a:ea typeface="Arial"/>
              <a:cs typeface="Arial"/>
              <a:sym typeface="Arial"/>
            </a:endParaRPr>
          </a:p>
          <a:p>
            <a:pPr indent="0" lvl="0" marL="342900" rtl="0" algn="l">
              <a:lnSpc>
                <a:spcPct val="114000"/>
              </a:lnSpc>
              <a:spcBef>
                <a:spcPts val="1200"/>
              </a:spcBef>
              <a:spcAft>
                <a:spcPts val="0"/>
              </a:spcAft>
              <a:buNone/>
            </a:pPr>
            <a:r>
              <a:t/>
            </a:r>
            <a:endParaRPr/>
          </a:p>
          <a:p>
            <a:pPr indent="0" lvl="0" marL="342900" rtl="0" algn="l">
              <a:lnSpc>
                <a:spcPct val="114000"/>
              </a:lnSpc>
              <a:spcBef>
                <a:spcPts val="48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2"/>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lnSpc>
                <a:spcPct val="114000"/>
              </a:lnSpc>
              <a:spcBef>
                <a:spcPts val="480"/>
              </a:spcBef>
              <a:spcAft>
                <a:spcPts val="0"/>
              </a:spcAft>
              <a:buClr>
                <a:schemeClr val="dk1"/>
              </a:buClr>
              <a:buSzPts val="1100"/>
              <a:buFont typeface="Arial"/>
              <a:buNone/>
            </a:pPr>
            <a:r>
              <a:rPr lang="en-US" sz="2900"/>
              <a:t>Software</a:t>
            </a:r>
            <a:endParaRPr sz="4900"/>
          </a:p>
        </p:txBody>
      </p:sp>
      <p:sp>
        <p:nvSpPr>
          <p:cNvPr id="163" name="Google Shape;163;p22"/>
          <p:cNvSpPr txBox="1"/>
          <p:nvPr>
            <p:ph idx="1" type="body"/>
          </p:nvPr>
        </p:nvSpPr>
        <p:spPr>
          <a:xfrm>
            <a:off x="190500" y="990600"/>
            <a:ext cx="8763000" cy="5334000"/>
          </a:xfrm>
          <a:prstGeom prst="rect">
            <a:avLst/>
          </a:prstGeom>
        </p:spPr>
        <p:txBody>
          <a:bodyPr anchorCtr="0" anchor="t" bIns="45700" lIns="91425" spcFirstLastPara="1" rIns="91425" wrap="square" tIns="45700">
            <a:normAutofit lnSpcReduction="20000"/>
          </a:bodyPr>
          <a:lstStyle/>
          <a:p>
            <a:pPr indent="0" lvl="0" marL="0" rtl="0" algn="l">
              <a:spcBef>
                <a:spcPts val="480"/>
              </a:spcBef>
              <a:spcAft>
                <a:spcPts val="0"/>
              </a:spcAft>
              <a:buNone/>
            </a:pPr>
            <a:r>
              <a:t/>
            </a:r>
            <a:endParaRPr/>
          </a:p>
          <a:p>
            <a:pPr indent="0" lvl="0" marL="0" rtl="0" algn="l">
              <a:spcBef>
                <a:spcPts val="480"/>
              </a:spcBef>
              <a:spcAft>
                <a:spcPts val="0"/>
              </a:spcAft>
              <a:buClr>
                <a:schemeClr val="dk1"/>
              </a:buClr>
              <a:buSzPts val="1100"/>
              <a:buFont typeface="Arial"/>
              <a:buNone/>
            </a:pPr>
            <a:r>
              <a:rPr b="1" lang="en-US" sz="1400">
                <a:latin typeface="Arial"/>
                <a:ea typeface="Arial"/>
                <a:cs typeface="Arial"/>
                <a:sym typeface="Arial"/>
              </a:rPr>
              <a:t>Operating System</a:t>
            </a:r>
            <a:r>
              <a:rPr lang="en-US" sz="1400">
                <a:latin typeface="Arial"/>
                <a:ea typeface="Arial"/>
                <a:cs typeface="Arial"/>
                <a:sym typeface="Arial"/>
              </a:rPr>
              <a:t>:</a:t>
            </a:r>
            <a:endParaRPr sz="1400">
              <a:latin typeface="Arial"/>
              <a:ea typeface="Arial"/>
              <a:cs typeface="Arial"/>
              <a:sym typeface="Arial"/>
            </a:endParaRPr>
          </a:p>
          <a:p>
            <a:pPr indent="-317500" lvl="0" marL="457200" rtl="0" algn="l">
              <a:lnSpc>
                <a:spcPct val="115000"/>
              </a:lnSpc>
              <a:spcBef>
                <a:spcPts val="1200"/>
              </a:spcBef>
              <a:spcAft>
                <a:spcPts val="0"/>
              </a:spcAft>
              <a:buSzPts val="1400"/>
              <a:buFont typeface="Arial"/>
              <a:buChar char="●"/>
            </a:pPr>
            <a:r>
              <a:rPr lang="en-US" sz="1400">
                <a:latin typeface="Arial"/>
                <a:ea typeface="Arial"/>
                <a:cs typeface="Arial"/>
                <a:sym typeface="Arial"/>
              </a:rPr>
              <a:t>Windows 10 or higher (64-bit recommended).</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400">
                <a:latin typeface="Arial"/>
                <a:ea typeface="Arial"/>
                <a:cs typeface="Arial"/>
                <a:sym typeface="Arial"/>
              </a:rPr>
              <a:t>Automation Tool</a:t>
            </a:r>
            <a:r>
              <a:rPr lang="en-US" sz="1400">
                <a:latin typeface="Arial"/>
                <a:ea typeface="Arial"/>
                <a:cs typeface="Arial"/>
                <a:sym typeface="Arial"/>
              </a:rPr>
              <a:t>:</a:t>
            </a:r>
            <a:endParaRPr sz="1400">
              <a:latin typeface="Arial"/>
              <a:ea typeface="Arial"/>
              <a:cs typeface="Arial"/>
              <a:sym typeface="Arial"/>
            </a:endParaRPr>
          </a:p>
          <a:p>
            <a:pPr indent="-317500" lvl="0" marL="457200" rtl="0" algn="l">
              <a:lnSpc>
                <a:spcPct val="115000"/>
              </a:lnSpc>
              <a:spcBef>
                <a:spcPts val="1200"/>
              </a:spcBef>
              <a:spcAft>
                <a:spcPts val="0"/>
              </a:spcAft>
              <a:buSzPts val="1400"/>
              <a:buFont typeface="Arial"/>
              <a:buChar char="●"/>
            </a:pPr>
            <a:r>
              <a:rPr b="1" lang="en-US" sz="1400">
                <a:latin typeface="Arial"/>
                <a:ea typeface="Arial"/>
                <a:cs typeface="Arial"/>
                <a:sym typeface="Arial"/>
              </a:rPr>
              <a:t>UiPath Studio</a:t>
            </a:r>
            <a:r>
              <a:rPr lang="en-US" sz="1400">
                <a:latin typeface="Arial"/>
                <a:ea typeface="Arial"/>
                <a:cs typeface="Arial"/>
                <a:sym typeface="Arial"/>
              </a:rPr>
              <a:t> (Recommended version: 2023.10.4 or higher for the latest features and stability).</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400">
                <a:latin typeface="Arial"/>
                <a:ea typeface="Arial"/>
                <a:cs typeface="Arial"/>
                <a:sym typeface="Arial"/>
              </a:rPr>
              <a:t>Browser</a:t>
            </a:r>
            <a:r>
              <a:rPr lang="en-US" sz="1400">
                <a:latin typeface="Arial"/>
                <a:ea typeface="Arial"/>
                <a:cs typeface="Arial"/>
                <a:sym typeface="Arial"/>
              </a:rPr>
              <a:t>:</a:t>
            </a:r>
            <a:endParaRPr sz="1400">
              <a:latin typeface="Arial"/>
              <a:ea typeface="Arial"/>
              <a:cs typeface="Arial"/>
              <a:sym typeface="Arial"/>
            </a:endParaRPr>
          </a:p>
          <a:p>
            <a:pPr indent="-317500" lvl="0" marL="457200" rtl="0" algn="l">
              <a:lnSpc>
                <a:spcPct val="115000"/>
              </a:lnSpc>
              <a:spcBef>
                <a:spcPts val="1200"/>
              </a:spcBef>
              <a:spcAft>
                <a:spcPts val="0"/>
              </a:spcAft>
              <a:buSzPts val="1400"/>
              <a:buFont typeface="Arial"/>
              <a:buChar char="●"/>
            </a:pPr>
            <a:r>
              <a:rPr lang="en-US" sz="1400">
                <a:latin typeface="Arial"/>
                <a:ea typeface="Arial"/>
                <a:cs typeface="Arial"/>
                <a:sym typeface="Arial"/>
              </a:rPr>
              <a:t>Google Chrome, Mozilla Firefox, or Microsoft Edge (Ensure the required browser extensions for UiPath are installed).</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400">
                <a:latin typeface="Arial"/>
                <a:ea typeface="Arial"/>
                <a:cs typeface="Arial"/>
                <a:sym typeface="Arial"/>
              </a:rPr>
              <a:t>UiPath Packages</a:t>
            </a:r>
            <a:r>
              <a:rPr lang="en-US" sz="1400">
                <a:latin typeface="Arial"/>
                <a:ea typeface="Arial"/>
                <a:cs typeface="Arial"/>
                <a:sym typeface="Arial"/>
              </a:rPr>
              <a:t>:</a:t>
            </a:r>
            <a:endParaRPr sz="1400">
              <a:latin typeface="Arial"/>
              <a:ea typeface="Arial"/>
              <a:cs typeface="Arial"/>
              <a:sym typeface="Arial"/>
            </a:endParaRPr>
          </a:p>
          <a:p>
            <a:pPr indent="-317500" lvl="0" marL="457200" rtl="0" algn="l">
              <a:lnSpc>
                <a:spcPct val="115000"/>
              </a:lnSpc>
              <a:spcBef>
                <a:spcPts val="1200"/>
              </a:spcBef>
              <a:spcAft>
                <a:spcPts val="0"/>
              </a:spcAft>
              <a:buSzPts val="1400"/>
              <a:buFont typeface="Arial"/>
              <a:buChar char="●"/>
            </a:pPr>
            <a:r>
              <a:rPr b="1" lang="en-US" sz="1400">
                <a:latin typeface="Arial"/>
                <a:ea typeface="Arial"/>
                <a:cs typeface="Arial"/>
                <a:sym typeface="Arial"/>
              </a:rPr>
              <a:t>UiPath.UIAutomation.Activities</a:t>
            </a:r>
            <a:r>
              <a:rPr lang="en-US" sz="1400">
                <a:latin typeface="Arial"/>
                <a:ea typeface="Arial"/>
                <a:cs typeface="Arial"/>
                <a:sym typeface="Arial"/>
              </a:rPr>
              <a:t>: For web automation and interaction with the courier website.</a:t>
            </a:r>
            <a:endParaRPr sz="14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b="1" lang="en-US" sz="1400">
                <a:latin typeface="Arial"/>
                <a:ea typeface="Arial"/>
                <a:cs typeface="Arial"/>
                <a:sym typeface="Arial"/>
              </a:rPr>
              <a:t>UiPath.System.Activities</a:t>
            </a:r>
            <a:r>
              <a:rPr lang="en-US" sz="1400">
                <a:latin typeface="Arial"/>
                <a:ea typeface="Arial"/>
                <a:cs typeface="Arial"/>
                <a:sym typeface="Arial"/>
              </a:rPr>
              <a:t>: For core automation functionalities.</a:t>
            </a:r>
            <a:endParaRPr sz="14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b="1" lang="en-US" sz="1400">
                <a:latin typeface="Arial"/>
                <a:ea typeface="Arial"/>
                <a:cs typeface="Arial"/>
                <a:sym typeface="Arial"/>
              </a:rPr>
              <a:t>UiPath.</a:t>
            </a:r>
            <a:r>
              <a:rPr b="1" lang="en-US" sz="1400">
                <a:latin typeface="Arial"/>
                <a:ea typeface="Arial"/>
                <a:cs typeface="Arial"/>
                <a:sym typeface="Arial"/>
              </a:rPr>
              <a:t>WebAPI</a:t>
            </a:r>
            <a:r>
              <a:rPr b="1" lang="en-US" sz="1400">
                <a:latin typeface="Arial"/>
                <a:ea typeface="Arial"/>
                <a:cs typeface="Arial"/>
                <a:sym typeface="Arial"/>
              </a:rPr>
              <a:t>.Activities</a:t>
            </a:r>
            <a:r>
              <a:rPr lang="en-US" sz="1400">
                <a:latin typeface="Arial"/>
                <a:ea typeface="Arial"/>
                <a:cs typeface="Arial"/>
                <a:sym typeface="Arial"/>
              </a:rPr>
              <a:t>: (Optional) For API-based interactions with courier systems if integrated later.</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400">
                <a:latin typeface="Arial"/>
                <a:ea typeface="Arial"/>
                <a:cs typeface="Arial"/>
                <a:sym typeface="Arial"/>
              </a:rPr>
              <a:t>Development Tools</a:t>
            </a:r>
            <a:r>
              <a:rPr lang="en-US" sz="1400">
                <a:latin typeface="Arial"/>
                <a:ea typeface="Arial"/>
                <a:cs typeface="Arial"/>
                <a:sym typeface="Arial"/>
              </a:rPr>
              <a:t>:</a:t>
            </a:r>
            <a:endParaRPr sz="1400">
              <a:latin typeface="Arial"/>
              <a:ea typeface="Arial"/>
              <a:cs typeface="Arial"/>
              <a:sym typeface="Arial"/>
            </a:endParaRPr>
          </a:p>
          <a:p>
            <a:pPr indent="-317500" lvl="0" marL="457200" rtl="0" algn="l">
              <a:lnSpc>
                <a:spcPct val="115000"/>
              </a:lnSpc>
              <a:spcBef>
                <a:spcPts val="1200"/>
              </a:spcBef>
              <a:spcAft>
                <a:spcPts val="0"/>
              </a:spcAft>
              <a:buSzPts val="1400"/>
              <a:buFont typeface="Arial"/>
              <a:buChar char="●"/>
            </a:pPr>
            <a:r>
              <a:rPr b="1" lang="en-US" sz="1400">
                <a:latin typeface="Arial"/>
                <a:ea typeface="Arial"/>
                <a:cs typeface="Arial"/>
                <a:sym typeface="Arial"/>
              </a:rPr>
              <a:t>UiPath Studio Community/Enterprise Edition</a:t>
            </a:r>
            <a:r>
              <a:rPr lang="en-US" sz="1400">
                <a:latin typeface="Arial"/>
                <a:ea typeface="Arial"/>
                <a:cs typeface="Arial"/>
                <a:sym typeface="Arial"/>
              </a:rPr>
              <a:t> for creating automation workflow</a:t>
            </a:r>
            <a:endParaRPr sz="1400">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3"/>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Functional Description</a:t>
            </a:r>
            <a:endParaRPr>
              <a:latin typeface="Calibri"/>
              <a:ea typeface="Calibri"/>
              <a:cs typeface="Calibri"/>
              <a:sym typeface="Calibri"/>
            </a:endParaRPr>
          </a:p>
        </p:txBody>
      </p:sp>
      <p:sp>
        <p:nvSpPr>
          <p:cNvPr id="170" name="Google Shape;170;p23"/>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400"/>
              </a:spcBef>
              <a:spcAft>
                <a:spcPts val="0"/>
              </a:spcAft>
              <a:buNone/>
            </a:pPr>
            <a:r>
              <a:rPr b="1" lang="en-US" sz="1700">
                <a:latin typeface="Arial"/>
                <a:ea typeface="Arial"/>
                <a:cs typeface="Arial"/>
                <a:sym typeface="Arial"/>
              </a:rPr>
              <a:t>Module 1: User Input Collection</a:t>
            </a:r>
            <a:endParaRPr b="1" sz="1700">
              <a:latin typeface="Arial"/>
              <a:ea typeface="Arial"/>
              <a:cs typeface="Arial"/>
              <a:sym typeface="Arial"/>
            </a:endParaRPr>
          </a:p>
          <a:p>
            <a:pPr indent="-336550" lvl="0" marL="457200" rtl="0" algn="l">
              <a:lnSpc>
                <a:spcPct val="115000"/>
              </a:lnSpc>
              <a:spcBef>
                <a:spcPts val="1200"/>
              </a:spcBef>
              <a:spcAft>
                <a:spcPts val="0"/>
              </a:spcAft>
              <a:buSzPts val="1700"/>
              <a:buFont typeface="Arial"/>
              <a:buChar char="●"/>
            </a:pPr>
            <a:r>
              <a:rPr b="1" lang="en-US" sz="1700">
                <a:latin typeface="Arial"/>
                <a:ea typeface="Arial"/>
                <a:cs typeface="Arial"/>
                <a:sym typeface="Arial"/>
              </a:rPr>
              <a:t>Short Description</a:t>
            </a:r>
            <a:r>
              <a:rPr lang="en-US" sz="1700">
                <a:latin typeface="Arial"/>
                <a:ea typeface="Arial"/>
                <a:cs typeface="Arial"/>
                <a:sym typeface="Arial"/>
              </a:rPr>
              <a:t>:</a:t>
            </a:r>
            <a:br>
              <a:rPr lang="en-US" sz="1700">
                <a:latin typeface="Arial"/>
                <a:ea typeface="Arial"/>
                <a:cs typeface="Arial"/>
                <a:sym typeface="Arial"/>
              </a:rPr>
            </a:br>
            <a:r>
              <a:rPr lang="en-US" sz="1700">
                <a:latin typeface="Arial"/>
                <a:ea typeface="Arial"/>
                <a:cs typeface="Arial"/>
                <a:sym typeface="Arial"/>
              </a:rPr>
              <a:t>This module is responsible for gathering essential shipping details from the user. It collects inputs such as sender and recipient addresses, package weight, and dimensions through a user-friendly input dialog. The data is then passed to the automation system for further processing.</a:t>
            </a:r>
            <a:endParaRPr sz="1700">
              <a:latin typeface="Arial"/>
              <a:ea typeface="Arial"/>
              <a:cs typeface="Arial"/>
              <a:sym typeface="Arial"/>
            </a:endParaRPr>
          </a:p>
          <a:p>
            <a:pPr indent="0" lvl="0" marL="342900" rtl="0" algn="l">
              <a:lnSpc>
                <a:spcPct val="114000"/>
              </a:lnSpc>
              <a:spcBef>
                <a:spcPts val="1200"/>
              </a:spcBef>
              <a:spcAft>
                <a:spcPts val="0"/>
              </a:spcAft>
              <a:buNone/>
            </a:pPr>
            <a:r>
              <a:t/>
            </a:r>
            <a:endParaRPr/>
          </a:p>
          <a:p>
            <a:pPr indent="0" lvl="0" marL="342900" rtl="0" algn="l">
              <a:lnSpc>
                <a:spcPct val="114000"/>
              </a:lnSpc>
              <a:spcBef>
                <a:spcPts val="480"/>
              </a:spcBef>
              <a:spcAft>
                <a:spcPts val="0"/>
              </a:spcAft>
              <a:buNone/>
            </a:pPr>
            <a:r>
              <a:t/>
            </a:r>
            <a:endParaRPr/>
          </a:p>
          <a:p>
            <a:pPr indent="0" lvl="0" marL="342900" rtl="0" algn="l">
              <a:lnSpc>
                <a:spcPct val="114000"/>
              </a:lnSpc>
              <a:spcBef>
                <a:spcPts val="480"/>
              </a:spcBef>
              <a:spcAft>
                <a:spcPts val="0"/>
              </a:spcAft>
              <a:buNone/>
            </a:pPr>
            <a:r>
              <a:t/>
            </a:r>
            <a:endParaRPr/>
          </a:p>
          <a:p>
            <a:pPr indent="-190500" lvl="0" marL="342900" rtl="0" algn="l">
              <a:lnSpc>
                <a:spcPct val="114000"/>
              </a:lnSpc>
              <a:spcBef>
                <a:spcPts val="480"/>
              </a:spcBef>
              <a:spcAft>
                <a:spcPts val="0"/>
              </a:spcAft>
              <a:buClr>
                <a:schemeClr val="dk1"/>
              </a:buClr>
              <a:buSzPts val="2400"/>
              <a:buFont typeface="Noto Sans Symbols"/>
              <a:buNone/>
            </a:pPr>
            <a:r>
              <a:t/>
            </a:r>
            <a:endParaRPr/>
          </a:p>
        </p:txBody>
      </p:sp>
      <p:pic>
        <p:nvPicPr>
          <p:cNvPr id="171" name="Google Shape;171;p23"/>
          <p:cNvPicPr preferRelativeResize="0"/>
          <p:nvPr/>
        </p:nvPicPr>
        <p:blipFill>
          <a:blip r:embed="rId3">
            <a:alphaModFix/>
          </a:blip>
          <a:stretch>
            <a:fillRect/>
          </a:stretch>
        </p:blipFill>
        <p:spPr>
          <a:xfrm>
            <a:off x="3638388" y="3606688"/>
            <a:ext cx="2009775" cy="28098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4"/>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Functional Description</a:t>
            </a:r>
            <a:endParaRPr/>
          </a:p>
        </p:txBody>
      </p:sp>
      <p:sp>
        <p:nvSpPr>
          <p:cNvPr id="178" name="Google Shape;178;p24"/>
          <p:cNvSpPr txBox="1"/>
          <p:nvPr>
            <p:ph idx="1" type="body"/>
          </p:nvPr>
        </p:nvSpPr>
        <p:spPr>
          <a:xfrm>
            <a:off x="190500" y="990600"/>
            <a:ext cx="8763000" cy="53340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US" sz="1800">
                <a:latin typeface="Arial"/>
                <a:ea typeface="Arial"/>
                <a:cs typeface="Arial"/>
                <a:sym typeface="Arial"/>
              </a:rPr>
              <a:t>Module 2: Web Interaction </a:t>
            </a:r>
            <a:endParaRPr b="1" sz="1800">
              <a:latin typeface="Arial"/>
              <a:ea typeface="Arial"/>
              <a:cs typeface="Arial"/>
              <a:sym typeface="Arial"/>
            </a:endParaRPr>
          </a:p>
          <a:p>
            <a:pPr indent="-342900" lvl="0" marL="457200" rtl="0" algn="l">
              <a:lnSpc>
                <a:spcPct val="115000"/>
              </a:lnSpc>
              <a:spcBef>
                <a:spcPts val="1200"/>
              </a:spcBef>
              <a:spcAft>
                <a:spcPts val="0"/>
              </a:spcAft>
              <a:buSzPts val="1800"/>
              <a:buFont typeface="Arial"/>
              <a:buChar char="●"/>
            </a:pPr>
            <a:r>
              <a:rPr b="1" lang="en-US" sz="1800">
                <a:latin typeface="Arial"/>
                <a:ea typeface="Arial"/>
                <a:cs typeface="Arial"/>
                <a:sym typeface="Arial"/>
              </a:rPr>
              <a:t>Short Description</a:t>
            </a:r>
            <a:r>
              <a:rPr lang="en-US" sz="1800">
                <a:latin typeface="Arial"/>
                <a:ea typeface="Arial"/>
                <a:cs typeface="Arial"/>
                <a:sym typeface="Arial"/>
              </a:rPr>
              <a:t>:</a:t>
            </a:r>
            <a:br>
              <a:rPr lang="en-US" sz="1800">
                <a:latin typeface="Arial"/>
                <a:ea typeface="Arial"/>
                <a:cs typeface="Arial"/>
                <a:sym typeface="Arial"/>
              </a:rPr>
            </a:br>
            <a:r>
              <a:rPr lang="en-US" sz="1800">
                <a:latin typeface="Arial"/>
                <a:ea typeface="Arial"/>
                <a:cs typeface="Arial"/>
                <a:sym typeface="Arial"/>
              </a:rPr>
              <a:t>This module automates the interaction with the courier website (e.g., UPS). It inputs the collected shipping details into the website, handles dynamic dropdowns, and submits the information for processing the shipping quote.</a:t>
            </a:r>
            <a:endParaRPr sz="1800">
              <a:latin typeface="Arial"/>
              <a:ea typeface="Arial"/>
              <a:cs typeface="Arial"/>
              <a:sym typeface="Arial"/>
            </a:endParaRPr>
          </a:p>
          <a:p>
            <a:pPr indent="0" lvl="0" marL="457200" rtl="0" algn="l">
              <a:lnSpc>
                <a:spcPct val="115000"/>
              </a:lnSpc>
              <a:spcBef>
                <a:spcPts val="1200"/>
              </a:spcBef>
              <a:spcAft>
                <a:spcPts val="0"/>
              </a:spcAft>
              <a:buNone/>
            </a:pPr>
            <a:r>
              <a:t/>
            </a:r>
            <a:endParaRPr sz="1800">
              <a:latin typeface="Arial"/>
              <a:ea typeface="Arial"/>
              <a:cs typeface="Arial"/>
              <a:sym typeface="Arial"/>
            </a:endParaRPr>
          </a:p>
          <a:p>
            <a:pPr indent="0" lvl="0" marL="0" rtl="0" algn="l">
              <a:spcBef>
                <a:spcPts val="1200"/>
              </a:spcBef>
              <a:spcAft>
                <a:spcPts val="0"/>
              </a:spcAft>
              <a:buNone/>
            </a:pPr>
            <a:r>
              <a:t/>
            </a:r>
            <a:endParaRPr sz="1800"/>
          </a:p>
        </p:txBody>
      </p:sp>
      <p:pic>
        <p:nvPicPr>
          <p:cNvPr id="179" name="Google Shape;179;p24"/>
          <p:cNvPicPr preferRelativeResize="0"/>
          <p:nvPr/>
        </p:nvPicPr>
        <p:blipFill>
          <a:blip r:embed="rId3">
            <a:alphaModFix/>
          </a:blip>
          <a:stretch>
            <a:fillRect/>
          </a:stretch>
        </p:blipFill>
        <p:spPr>
          <a:xfrm>
            <a:off x="3438399" y="2780274"/>
            <a:ext cx="2310350" cy="3680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5"/>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Entity-Relationship-Diagram</a:t>
            </a:r>
            <a:endParaRPr>
              <a:latin typeface="Calibri"/>
              <a:ea typeface="Calibri"/>
              <a:cs typeface="Calibri"/>
              <a:sym typeface="Calibri"/>
            </a:endParaRPr>
          </a:p>
        </p:txBody>
      </p:sp>
      <p:sp>
        <p:nvSpPr>
          <p:cNvPr id="186" name="Google Shape;186;p25"/>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342900" rtl="0" algn="l">
              <a:lnSpc>
                <a:spcPct val="114000"/>
              </a:lnSpc>
              <a:spcBef>
                <a:spcPts val="0"/>
              </a:spcBef>
              <a:spcAft>
                <a:spcPts val="0"/>
              </a:spcAft>
              <a:buNone/>
            </a:pPr>
            <a:r>
              <a:t/>
            </a:r>
            <a:endParaRPr/>
          </a:p>
        </p:txBody>
      </p:sp>
      <p:pic>
        <p:nvPicPr>
          <p:cNvPr id="187" name="Google Shape;187;p25"/>
          <p:cNvPicPr preferRelativeResize="0"/>
          <p:nvPr/>
        </p:nvPicPr>
        <p:blipFill>
          <a:blip r:embed="rId3">
            <a:alphaModFix/>
          </a:blip>
          <a:stretch>
            <a:fillRect/>
          </a:stretch>
        </p:blipFill>
        <p:spPr>
          <a:xfrm>
            <a:off x="3462350" y="1054200"/>
            <a:ext cx="2386200" cy="5110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6"/>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Process Design</a:t>
            </a:r>
            <a:endParaRPr>
              <a:latin typeface="Calibri"/>
              <a:ea typeface="Calibri"/>
              <a:cs typeface="Calibri"/>
              <a:sym typeface="Calibri"/>
            </a:endParaRPr>
          </a:p>
        </p:txBody>
      </p:sp>
      <p:sp>
        <p:nvSpPr>
          <p:cNvPr id="194" name="Google Shape;194;p26"/>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311150" lvl="0" marL="342900" rtl="0" algn="l">
              <a:lnSpc>
                <a:spcPct val="115000"/>
              </a:lnSpc>
              <a:spcBef>
                <a:spcPts val="1400"/>
              </a:spcBef>
              <a:spcAft>
                <a:spcPts val="0"/>
              </a:spcAft>
              <a:buSzPts val="1900"/>
              <a:buChar char="▪"/>
            </a:pPr>
            <a:r>
              <a:rPr b="1" lang="en-US" sz="1900">
                <a:latin typeface="Arial"/>
                <a:ea typeface="Arial"/>
                <a:cs typeface="Arial"/>
                <a:sym typeface="Arial"/>
              </a:rPr>
              <a:t>Main Process: Shipping Cost Calculation Automation</a:t>
            </a:r>
            <a:endParaRPr b="1" sz="1900">
              <a:latin typeface="Arial"/>
              <a:ea typeface="Arial"/>
              <a:cs typeface="Arial"/>
              <a:sym typeface="Arial"/>
            </a:endParaRPr>
          </a:p>
          <a:p>
            <a:pPr indent="-311150" lvl="0" marL="342900" rtl="0" algn="l">
              <a:lnSpc>
                <a:spcPct val="115000"/>
              </a:lnSpc>
              <a:spcBef>
                <a:spcPts val="0"/>
              </a:spcBef>
              <a:spcAft>
                <a:spcPts val="0"/>
              </a:spcAft>
              <a:buSzPts val="1900"/>
              <a:buChar char="▪"/>
            </a:pPr>
            <a:r>
              <a:rPr b="1" lang="en-US" sz="1900">
                <a:latin typeface="Arial"/>
                <a:ea typeface="Arial"/>
                <a:cs typeface="Arial"/>
                <a:sym typeface="Arial"/>
              </a:rPr>
              <a:t>Description</a:t>
            </a:r>
            <a:r>
              <a:rPr lang="en-US" sz="1900">
                <a:latin typeface="Arial"/>
                <a:ea typeface="Arial"/>
                <a:cs typeface="Arial"/>
                <a:sym typeface="Arial"/>
              </a:rPr>
              <a:t>:</a:t>
            </a:r>
            <a:br>
              <a:rPr lang="en-US" sz="1900">
                <a:latin typeface="Arial"/>
                <a:ea typeface="Arial"/>
                <a:cs typeface="Arial"/>
                <a:sym typeface="Arial"/>
              </a:rPr>
            </a:br>
            <a:r>
              <a:rPr lang="en-US" sz="1900">
                <a:latin typeface="Arial"/>
                <a:ea typeface="Arial"/>
                <a:cs typeface="Arial"/>
                <a:sym typeface="Arial"/>
              </a:rPr>
              <a:t>The main process automates the workflow to calculate shipping costs by collecting user input, interacting with the courier website, retrieving quotes, and displaying the results.</a:t>
            </a:r>
            <a:endParaRPr sz="1900">
              <a:latin typeface="Arial"/>
              <a:ea typeface="Arial"/>
              <a:cs typeface="Arial"/>
              <a:sym typeface="Arial"/>
            </a:endParaRPr>
          </a:p>
          <a:p>
            <a:pPr indent="0" lvl="0" marL="0" rtl="0" algn="l">
              <a:lnSpc>
                <a:spcPct val="115000"/>
              </a:lnSpc>
              <a:spcBef>
                <a:spcPts val="1400"/>
              </a:spcBef>
              <a:spcAft>
                <a:spcPts val="0"/>
              </a:spcAft>
              <a:buNone/>
            </a:pPr>
            <a:r>
              <a:t/>
            </a:r>
            <a:endParaRPr b="1" sz="2435">
              <a:latin typeface="Arial"/>
              <a:ea typeface="Arial"/>
              <a:cs typeface="Arial"/>
              <a:sym typeface="Arial"/>
            </a:endParaRPr>
          </a:p>
          <a:p>
            <a:pPr indent="0" lvl="0" marL="0" rtl="0" algn="l">
              <a:lnSpc>
                <a:spcPct val="115000"/>
              </a:lnSpc>
              <a:spcBef>
                <a:spcPts val="1400"/>
              </a:spcBef>
              <a:spcAft>
                <a:spcPts val="0"/>
              </a:spcAft>
              <a:buNone/>
            </a:pPr>
            <a:r>
              <a:t/>
            </a:r>
            <a:endParaRPr b="1" sz="2435">
              <a:latin typeface="Arial"/>
              <a:ea typeface="Arial"/>
              <a:cs typeface="Arial"/>
              <a:sym typeface="Arial"/>
            </a:endParaRPr>
          </a:p>
          <a:p>
            <a:pPr indent="0" lvl="0" marL="0" rtl="0" algn="l">
              <a:lnSpc>
                <a:spcPct val="115000"/>
              </a:lnSpc>
              <a:spcBef>
                <a:spcPts val="1400"/>
              </a:spcBef>
              <a:spcAft>
                <a:spcPts val="0"/>
              </a:spcAft>
              <a:buNone/>
            </a:pPr>
            <a:r>
              <a:rPr b="1" lang="en-US" sz="2435">
                <a:latin typeface="Arial"/>
                <a:ea typeface="Arial"/>
                <a:cs typeface="Arial"/>
                <a:sym typeface="Arial"/>
              </a:rPr>
              <a:t>      </a:t>
            </a:r>
            <a:endParaRPr sz="4700">
              <a:latin typeface="Arial"/>
              <a:ea typeface="Arial"/>
              <a:cs typeface="Arial"/>
              <a:sym typeface="Arial"/>
            </a:endParaRPr>
          </a:p>
          <a:p>
            <a:pPr indent="0" lvl="0" marL="342900" rtl="0" algn="l">
              <a:lnSpc>
                <a:spcPct val="114000"/>
              </a:lnSpc>
              <a:spcBef>
                <a:spcPts val="480"/>
              </a:spcBef>
              <a:spcAft>
                <a:spcPts val="0"/>
              </a:spcAft>
              <a:buNone/>
            </a:pPr>
            <a:r>
              <a:t/>
            </a:r>
            <a:endParaRPr sz="47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7"/>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201" name="Google Shape;201;p27"/>
          <p:cNvSpPr txBox="1"/>
          <p:nvPr>
            <p:ph idx="1" type="body"/>
          </p:nvPr>
        </p:nvSpPr>
        <p:spPr>
          <a:xfrm>
            <a:off x="190500" y="914275"/>
            <a:ext cx="8763000" cy="53340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US" sz="2435">
                <a:latin typeface="Arial"/>
                <a:ea typeface="Arial"/>
                <a:cs typeface="Arial"/>
                <a:sym typeface="Arial"/>
              </a:rPr>
              <a:t>  </a:t>
            </a:r>
            <a:r>
              <a:rPr b="1" lang="en-US" sz="1535">
                <a:latin typeface="Arial"/>
                <a:ea typeface="Arial"/>
                <a:cs typeface="Arial"/>
                <a:sym typeface="Arial"/>
              </a:rPr>
              <a:t>Sub-Processes</a:t>
            </a:r>
            <a:endParaRPr b="1" sz="1535">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535">
                <a:latin typeface="Arial"/>
                <a:ea typeface="Arial"/>
                <a:cs typeface="Arial"/>
                <a:sym typeface="Arial"/>
              </a:rPr>
              <a:t>        Sub-Process 1: Collect User Input</a:t>
            </a:r>
            <a:endParaRPr b="1" sz="1535">
              <a:latin typeface="Arial"/>
              <a:ea typeface="Arial"/>
              <a:cs typeface="Arial"/>
              <a:sym typeface="Arial"/>
            </a:endParaRPr>
          </a:p>
          <a:p>
            <a:pPr indent="-326117" lvl="0" marL="457200" rtl="0" algn="l">
              <a:lnSpc>
                <a:spcPct val="115000"/>
              </a:lnSpc>
              <a:spcBef>
                <a:spcPts val="1200"/>
              </a:spcBef>
              <a:spcAft>
                <a:spcPts val="0"/>
              </a:spcAft>
              <a:buSzPts val="1536"/>
              <a:buFont typeface="Arial"/>
              <a:buChar char="●"/>
            </a:pPr>
            <a:r>
              <a:rPr b="1" lang="en-US" sz="1535">
                <a:latin typeface="Arial"/>
                <a:ea typeface="Arial"/>
                <a:cs typeface="Arial"/>
                <a:sym typeface="Arial"/>
              </a:rPr>
              <a:t>  Description</a:t>
            </a:r>
            <a:r>
              <a:rPr lang="en-US" sz="1535">
                <a:latin typeface="Arial"/>
                <a:ea typeface="Arial"/>
                <a:cs typeface="Arial"/>
                <a:sym typeface="Arial"/>
              </a:rPr>
              <a:t>:</a:t>
            </a:r>
            <a:br>
              <a:rPr lang="en-US" sz="1535">
                <a:latin typeface="Arial"/>
                <a:ea typeface="Arial"/>
                <a:cs typeface="Arial"/>
                <a:sym typeface="Arial"/>
              </a:rPr>
            </a:br>
            <a:r>
              <a:rPr lang="en-US" sz="1535">
                <a:latin typeface="Arial"/>
                <a:ea typeface="Arial"/>
                <a:cs typeface="Arial"/>
                <a:sym typeface="Arial"/>
              </a:rPr>
              <a:t>Gather essential shipping details from the user, such as sender/recipient addresses, package weight, and dimensions.</a:t>
            </a:r>
            <a:endParaRPr sz="1535">
              <a:latin typeface="Arial"/>
              <a:ea typeface="Arial"/>
              <a:cs typeface="Arial"/>
              <a:sym typeface="Arial"/>
            </a:endParaRPr>
          </a:p>
          <a:p>
            <a:pPr indent="-326117" lvl="0" marL="457200" rtl="0" algn="l">
              <a:lnSpc>
                <a:spcPct val="115000"/>
              </a:lnSpc>
              <a:spcBef>
                <a:spcPts val="0"/>
              </a:spcBef>
              <a:spcAft>
                <a:spcPts val="0"/>
              </a:spcAft>
              <a:buSzPts val="1536"/>
              <a:buFont typeface="Arial"/>
              <a:buChar char="●"/>
            </a:pPr>
            <a:r>
              <a:rPr b="1" lang="en-US" sz="1535">
                <a:latin typeface="Arial"/>
                <a:ea typeface="Arial"/>
                <a:cs typeface="Arial"/>
                <a:sym typeface="Arial"/>
              </a:rPr>
              <a:t>Activities</a:t>
            </a:r>
            <a:r>
              <a:rPr lang="en-US" sz="1535">
                <a:latin typeface="Arial"/>
                <a:ea typeface="Arial"/>
                <a:cs typeface="Arial"/>
                <a:sym typeface="Arial"/>
              </a:rPr>
              <a:t>:</a:t>
            </a:r>
            <a:endParaRPr sz="1535">
              <a:latin typeface="Arial"/>
              <a:ea typeface="Arial"/>
              <a:cs typeface="Arial"/>
              <a:sym typeface="Arial"/>
            </a:endParaRPr>
          </a:p>
          <a:p>
            <a:pPr indent="-326117" lvl="1" marL="914400" rtl="0" algn="l">
              <a:lnSpc>
                <a:spcPct val="115000"/>
              </a:lnSpc>
              <a:spcBef>
                <a:spcPts val="0"/>
              </a:spcBef>
              <a:spcAft>
                <a:spcPts val="0"/>
              </a:spcAft>
              <a:buSzPts val="1536"/>
              <a:buAutoNum type="arabicPeriod"/>
            </a:pPr>
            <a:r>
              <a:rPr lang="en-US" sz="1535">
                <a:latin typeface="Arial"/>
                <a:ea typeface="Arial"/>
                <a:cs typeface="Arial"/>
                <a:sym typeface="Arial"/>
              </a:rPr>
              <a:t>Prompt user with an input dialog for required details.</a:t>
            </a:r>
            <a:endParaRPr sz="1535">
              <a:latin typeface="Arial"/>
              <a:ea typeface="Arial"/>
              <a:cs typeface="Arial"/>
              <a:sym typeface="Arial"/>
            </a:endParaRPr>
          </a:p>
          <a:p>
            <a:pPr indent="-326117" lvl="1" marL="914400" rtl="0" algn="l">
              <a:lnSpc>
                <a:spcPct val="115000"/>
              </a:lnSpc>
              <a:spcBef>
                <a:spcPts val="0"/>
              </a:spcBef>
              <a:spcAft>
                <a:spcPts val="0"/>
              </a:spcAft>
              <a:buSzPts val="1536"/>
              <a:buAutoNum type="arabicPeriod"/>
            </a:pPr>
            <a:r>
              <a:rPr lang="en-US" sz="1535">
                <a:latin typeface="Arial"/>
                <a:ea typeface="Arial"/>
                <a:cs typeface="Arial"/>
                <a:sym typeface="Arial"/>
              </a:rPr>
              <a:t>Validate the provided inputs.</a:t>
            </a:r>
            <a:endParaRPr sz="1535">
              <a:latin typeface="Arial"/>
              <a:ea typeface="Arial"/>
              <a:cs typeface="Arial"/>
              <a:sym typeface="Arial"/>
            </a:endParaRPr>
          </a:p>
          <a:p>
            <a:pPr indent="-326117" lvl="1" marL="914400" rtl="0" algn="l">
              <a:lnSpc>
                <a:spcPct val="115000"/>
              </a:lnSpc>
              <a:spcBef>
                <a:spcPts val="0"/>
              </a:spcBef>
              <a:spcAft>
                <a:spcPts val="0"/>
              </a:spcAft>
              <a:buSzPts val="1536"/>
              <a:buAutoNum type="arabicPeriod"/>
            </a:pPr>
            <a:r>
              <a:rPr lang="en-US" sz="1535">
                <a:latin typeface="Arial"/>
                <a:ea typeface="Arial"/>
                <a:cs typeface="Arial"/>
                <a:sym typeface="Arial"/>
              </a:rPr>
              <a:t>Store the inputs for further processing.</a:t>
            </a:r>
            <a:endParaRPr sz="1535">
              <a:latin typeface="Arial"/>
              <a:ea typeface="Arial"/>
              <a:cs typeface="Arial"/>
              <a:sym typeface="Arial"/>
            </a:endParaRPr>
          </a:p>
          <a:p>
            <a:pPr indent="0" lvl="0" marL="914400" rtl="0" algn="l">
              <a:lnSpc>
                <a:spcPct val="115000"/>
              </a:lnSpc>
              <a:spcBef>
                <a:spcPts val="1200"/>
              </a:spcBef>
              <a:spcAft>
                <a:spcPts val="0"/>
              </a:spcAft>
              <a:buNone/>
            </a:pPr>
            <a:r>
              <a:t/>
            </a:r>
            <a:endParaRPr sz="1535">
              <a:latin typeface="Arial"/>
              <a:ea typeface="Arial"/>
              <a:cs typeface="Arial"/>
              <a:sym typeface="Arial"/>
            </a:endParaRPr>
          </a:p>
          <a:p>
            <a:pPr indent="0" lvl="0" marL="0" rtl="0" algn="l">
              <a:lnSpc>
                <a:spcPct val="95000"/>
              </a:lnSpc>
              <a:spcBef>
                <a:spcPts val="1200"/>
              </a:spcBef>
              <a:spcAft>
                <a:spcPts val="200"/>
              </a:spcAft>
              <a:buSzPts val="770"/>
              <a:buNone/>
            </a:pPr>
            <a:r>
              <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8"/>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208" name="Google Shape;208;p28"/>
          <p:cNvSpPr txBox="1"/>
          <p:nvPr>
            <p:ph idx="1" type="body"/>
          </p:nvPr>
        </p:nvSpPr>
        <p:spPr>
          <a:xfrm>
            <a:off x="190500" y="990600"/>
            <a:ext cx="8763000" cy="5334000"/>
          </a:xfrm>
          <a:prstGeom prst="rect">
            <a:avLst/>
          </a:prstGeom>
        </p:spPr>
        <p:txBody>
          <a:bodyPr anchorCtr="0" anchor="t" bIns="45700" lIns="91425" spcFirstLastPara="1" rIns="91425" wrap="square" tIns="45700">
            <a:normAutofit/>
          </a:bodyPr>
          <a:lstStyle/>
          <a:p>
            <a:pPr indent="0" lvl="0" marL="0" rtl="0" algn="l">
              <a:lnSpc>
                <a:spcPct val="95000"/>
              </a:lnSpc>
              <a:spcBef>
                <a:spcPts val="1200"/>
              </a:spcBef>
              <a:spcAft>
                <a:spcPts val="0"/>
              </a:spcAft>
              <a:buClr>
                <a:schemeClr val="dk1"/>
              </a:buClr>
              <a:buSzPts val="770"/>
              <a:buFont typeface="Arial"/>
              <a:buNone/>
            </a:pPr>
            <a:r>
              <a:rPr b="1" lang="en-US" sz="1800">
                <a:latin typeface="Arial"/>
                <a:ea typeface="Arial"/>
                <a:cs typeface="Arial"/>
                <a:sym typeface="Arial"/>
              </a:rPr>
              <a:t>S</a:t>
            </a:r>
            <a:r>
              <a:rPr b="1" lang="en-US" sz="1800">
                <a:latin typeface="Arial"/>
                <a:ea typeface="Arial"/>
                <a:cs typeface="Arial"/>
                <a:sym typeface="Arial"/>
              </a:rPr>
              <a:t>ub-Process 2: Open Courier Website</a:t>
            </a:r>
            <a:endParaRPr b="1" sz="1800">
              <a:latin typeface="Arial"/>
              <a:ea typeface="Arial"/>
              <a:cs typeface="Arial"/>
              <a:sym typeface="Arial"/>
            </a:endParaRPr>
          </a:p>
          <a:p>
            <a:pPr indent="-342900" lvl="0" marL="457200" rtl="0" algn="l">
              <a:lnSpc>
                <a:spcPct val="95000"/>
              </a:lnSpc>
              <a:spcBef>
                <a:spcPts val="1200"/>
              </a:spcBef>
              <a:spcAft>
                <a:spcPts val="0"/>
              </a:spcAft>
              <a:buSzPts val="1800"/>
              <a:buFont typeface="Arial"/>
              <a:buChar char="●"/>
            </a:pPr>
            <a:r>
              <a:rPr b="1" lang="en-US" sz="1800">
                <a:latin typeface="Arial"/>
                <a:ea typeface="Arial"/>
                <a:cs typeface="Arial"/>
                <a:sym typeface="Arial"/>
              </a:rPr>
              <a:t>Description</a:t>
            </a:r>
            <a:r>
              <a:rPr lang="en-US" sz="1800">
                <a:latin typeface="Arial"/>
                <a:ea typeface="Arial"/>
                <a:cs typeface="Arial"/>
                <a:sym typeface="Arial"/>
              </a:rPr>
              <a:t>:</a:t>
            </a:r>
            <a:br>
              <a:rPr lang="en-US" sz="1800">
                <a:latin typeface="Arial"/>
                <a:ea typeface="Arial"/>
                <a:cs typeface="Arial"/>
                <a:sym typeface="Arial"/>
              </a:rPr>
            </a:br>
            <a:r>
              <a:rPr lang="en-US" sz="1800">
                <a:latin typeface="Arial"/>
                <a:ea typeface="Arial"/>
                <a:cs typeface="Arial"/>
                <a:sym typeface="Arial"/>
              </a:rPr>
              <a:t>Launch the courier’s website in a browser and prepare it for interaction.</a:t>
            </a:r>
            <a:endParaRPr sz="1800">
              <a:latin typeface="Arial"/>
              <a:ea typeface="Arial"/>
              <a:cs typeface="Arial"/>
              <a:sym typeface="Arial"/>
            </a:endParaRPr>
          </a:p>
          <a:p>
            <a:pPr indent="-342900" lvl="0" marL="457200" rtl="0" algn="l">
              <a:lnSpc>
                <a:spcPct val="95000"/>
              </a:lnSpc>
              <a:spcBef>
                <a:spcPts val="0"/>
              </a:spcBef>
              <a:spcAft>
                <a:spcPts val="0"/>
              </a:spcAft>
              <a:buSzPts val="1800"/>
              <a:buFont typeface="Arial"/>
              <a:buChar char="●"/>
            </a:pPr>
            <a:r>
              <a:rPr b="1" lang="en-US" sz="1800">
                <a:latin typeface="Arial"/>
                <a:ea typeface="Arial"/>
                <a:cs typeface="Arial"/>
                <a:sym typeface="Arial"/>
              </a:rPr>
              <a:t>Activities</a:t>
            </a:r>
            <a:r>
              <a:rPr lang="en-US" sz="1800">
                <a:latin typeface="Arial"/>
                <a:ea typeface="Arial"/>
                <a:cs typeface="Arial"/>
                <a:sym typeface="Arial"/>
              </a:rPr>
              <a:t>:</a:t>
            </a:r>
            <a:endParaRPr sz="1800">
              <a:latin typeface="Arial"/>
              <a:ea typeface="Arial"/>
              <a:cs typeface="Arial"/>
              <a:sym typeface="Arial"/>
            </a:endParaRPr>
          </a:p>
          <a:p>
            <a:pPr indent="-342900" lvl="1" marL="914400" rtl="0" algn="l">
              <a:lnSpc>
                <a:spcPct val="95000"/>
              </a:lnSpc>
              <a:spcBef>
                <a:spcPts val="0"/>
              </a:spcBef>
              <a:spcAft>
                <a:spcPts val="0"/>
              </a:spcAft>
              <a:buSzPts val="1800"/>
              <a:buAutoNum type="arabicPeriod"/>
            </a:pPr>
            <a:r>
              <a:rPr lang="en-US" sz="1800">
                <a:latin typeface="Arial"/>
                <a:ea typeface="Arial"/>
                <a:cs typeface="Arial"/>
                <a:sym typeface="Arial"/>
              </a:rPr>
              <a:t>Use the browser automation activity to navigate to the courier website (e.g., UPS).</a:t>
            </a:r>
            <a:endParaRPr sz="1800">
              <a:latin typeface="Arial"/>
              <a:ea typeface="Arial"/>
              <a:cs typeface="Arial"/>
              <a:sym typeface="Arial"/>
            </a:endParaRPr>
          </a:p>
          <a:p>
            <a:pPr indent="-342900" lvl="1" marL="914400" rtl="0" algn="l">
              <a:lnSpc>
                <a:spcPct val="95000"/>
              </a:lnSpc>
              <a:spcBef>
                <a:spcPts val="0"/>
              </a:spcBef>
              <a:spcAft>
                <a:spcPts val="0"/>
              </a:spcAft>
              <a:buSzPts val="1800"/>
              <a:buAutoNum type="arabicPeriod"/>
            </a:pPr>
            <a:r>
              <a:rPr lang="en-US" sz="1800">
                <a:latin typeface="Arial"/>
                <a:ea typeface="Arial"/>
                <a:cs typeface="Arial"/>
                <a:sym typeface="Arial"/>
              </a:rPr>
              <a:t>Wait until the page loads completely.</a:t>
            </a:r>
            <a:endParaRPr sz="1800">
              <a:latin typeface="Arial"/>
              <a:ea typeface="Arial"/>
              <a:cs typeface="Arial"/>
              <a:sym typeface="Arial"/>
            </a:endParaRPr>
          </a:p>
          <a:p>
            <a:pPr indent="0" lvl="0" marL="0" rtl="0" algn="l">
              <a:lnSpc>
                <a:spcPct val="94000"/>
              </a:lnSpc>
              <a:spcBef>
                <a:spcPts val="1200"/>
              </a:spcBef>
              <a:spcAft>
                <a:spcPts val="0"/>
              </a:spcAft>
              <a:buClr>
                <a:schemeClr val="dk1"/>
              </a:buClr>
              <a:buSzPts val="770"/>
              <a:buFont typeface="Arial"/>
              <a:buNone/>
            </a:pPr>
            <a:r>
              <a:t/>
            </a:r>
            <a:endParaRPr sz="1600"/>
          </a:p>
          <a:p>
            <a:pPr indent="0" lvl="0" marL="0" rtl="0" algn="l">
              <a:spcBef>
                <a:spcPts val="48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215" name="Google Shape;215;p29"/>
          <p:cNvSpPr txBox="1"/>
          <p:nvPr>
            <p:ph idx="1" type="body"/>
          </p:nvPr>
        </p:nvSpPr>
        <p:spPr>
          <a:xfrm>
            <a:off x="190500" y="990600"/>
            <a:ext cx="8763000" cy="53340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en-US" sz="1800">
                <a:latin typeface="Arial"/>
                <a:ea typeface="Arial"/>
                <a:cs typeface="Arial"/>
                <a:sym typeface="Arial"/>
              </a:rPr>
              <a:t>Sub-Process 3: Input Shipping Details</a:t>
            </a:r>
            <a:endParaRPr b="1" sz="1800">
              <a:latin typeface="Arial"/>
              <a:ea typeface="Arial"/>
              <a:cs typeface="Arial"/>
              <a:sym typeface="Arial"/>
            </a:endParaRPr>
          </a:p>
          <a:p>
            <a:pPr indent="-342900" lvl="0" marL="457200" rtl="0" algn="l">
              <a:lnSpc>
                <a:spcPct val="115000"/>
              </a:lnSpc>
              <a:spcBef>
                <a:spcPts val="1200"/>
              </a:spcBef>
              <a:spcAft>
                <a:spcPts val="0"/>
              </a:spcAft>
              <a:buSzPts val="1800"/>
              <a:buFont typeface="Arial"/>
              <a:buChar char="●"/>
            </a:pPr>
            <a:r>
              <a:rPr b="1" lang="en-US" sz="1800">
                <a:latin typeface="Arial"/>
                <a:ea typeface="Arial"/>
                <a:cs typeface="Arial"/>
                <a:sym typeface="Arial"/>
              </a:rPr>
              <a:t>Description</a:t>
            </a:r>
            <a:r>
              <a:rPr lang="en-US" sz="1800">
                <a:latin typeface="Arial"/>
                <a:ea typeface="Arial"/>
                <a:cs typeface="Arial"/>
                <a:sym typeface="Arial"/>
              </a:rPr>
              <a:t>:</a:t>
            </a:r>
            <a:br>
              <a:rPr lang="en-US" sz="1800">
                <a:latin typeface="Arial"/>
                <a:ea typeface="Arial"/>
                <a:cs typeface="Arial"/>
                <a:sym typeface="Arial"/>
              </a:rPr>
            </a:br>
            <a:r>
              <a:rPr lang="en-US" sz="1800">
                <a:latin typeface="Arial"/>
                <a:ea typeface="Arial"/>
                <a:cs typeface="Arial"/>
                <a:sym typeface="Arial"/>
              </a:rPr>
              <a:t>Enter the collected user data into the courier website’s form fields.</a:t>
            </a:r>
            <a:endParaRPr sz="1800">
              <a:latin typeface="Arial"/>
              <a:ea typeface="Arial"/>
              <a:cs typeface="Arial"/>
              <a:sym typeface="Arial"/>
            </a:endParaRPr>
          </a:p>
          <a:p>
            <a:pPr indent="-342900" lvl="0" marL="457200" rtl="0" algn="l">
              <a:lnSpc>
                <a:spcPct val="115000"/>
              </a:lnSpc>
              <a:spcBef>
                <a:spcPts val="0"/>
              </a:spcBef>
              <a:spcAft>
                <a:spcPts val="0"/>
              </a:spcAft>
              <a:buSzPts val="1800"/>
              <a:buFont typeface="Arial"/>
              <a:buChar char="●"/>
            </a:pPr>
            <a:r>
              <a:rPr b="1" lang="en-US" sz="1800">
                <a:latin typeface="Arial"/>
                <a:ea typeface="Arial"/>
                <a:cs typeface="Arial"/>
                <a:sym typeface="Arial"/>
              </a:rPr>
              <a:t>Activities</a:t>
            </a:r>
            <a:r>
              <a:rPr lang="en-US" sz="1800">
                <a:latin typeface="Arial"/>
                <a:ea typeface="Arial"/>
                <a:cs typeface="Arial"/>
                <a:sym typeface="Arial"/>
              </a:rPr>
              <a:t>:</a:t>
            </a:r>
            <a:endParaRPr sz="1800">
              <a:latin typeface="Arial"/>
              <a:ea typeface="Arial"/>
              <a:cs typeface="Arial"/>
              <a:sym typeface="Arial"/>
            </a:endParaRPr>
          </a:p>
          <a:p>
            <a:pPr indent="-342900" lvl="1" marL="914400" rtl="0" algn="l">
              <a:lnSpc>
                <a:spcPct val="115000"/>
              </a:lnSpc>
              <a:spcBef>
                <a:spcPts val="0"/>
              </a:spcBef>
              <a:spcAft>
                <a:spcPts val="0"/>
              </a:spcAft>
              <a:buSzPts val="1800"/>
              <a:buAutoNum type="arabicPeriod"/>
            </a:pPr>
            <a:r>
              <a:rPr lang="en-US" sz="1800">
                <a:latin typeface="Arial"/>
                <a:ea typeface="Arial"/>
                <a:cs typeface="Arial"/>
                <a:sym typeface="Arial"/>
              </a:rPr>
              <a:t>Input addresses (sender and recipient).</a:t>
            </a:r>
            <a:endParaRPr sz="1800">
              <a:latin typeface="Arial"/>
              <a:ea typeface="Arial"/>
              <a:cs typeface="Arial"/>
              <a:sym typeface="Arial"/>
            </a:endParaRPr>
          </a:p>
          <a:p>
            <a:pPr indent="-342900" lvl="1" marL="914400" rtl="0" algn="l">
              <a:lnSpc>
                <a:spcPct val="115000"/>
              </a:lnSpc>
              <a:spcBef>
                <a:spcPts val="0"/>
              </a:spcBef>
              <a:spcAft>
                <a:spcPts val="0"/>
              </a:spcAft>
              <a:buSzPts val="1800"/>
              <a:buAutoNum type="arabicPeriod"/>
            </a:pPr>
            <a:r>
              <a:rPr lang="en-US" sz="1800">
                <a:latin typeface="Arial"/>
                <a:ea typeface="Arial"/>
                <a:cs typeface="Arial"/>
                <a:sym typeface="Arial"/>
              </a:rPr>
              <a:t>Input package details (weight, dimensions).</a:t>
            </a:r>
            <a:endParaRPr sz="1800">
              <a:latin typeface="Arial"/>
              <a:ea typeface="Arial"/>
              <a:cs typeface="Arial"/>
              <a:sym typeface="Arial"/>
            </a:endParaRPr>
          </a:p>
          <a:p>
            <a:pPr indent="-342900" lvl="1" marL="914400" rtl="0" algn="l">
              <a:lnSpc>
                <a:spcPct val="115000"/>
              </a:lnSpc>
              <a:spcBef>
                <a:spcPts val="0"/>
              </a:spcBef>
              <a:spcAft>
                <a:spcPts val="0"/>
              </a:spcAft>
              <a:buSzPts val="1800"/>
              <a:buAutoNum type="arabicPeriod"/>
            </a:pPr>
            <a:r>
              <a:rPr lang="en-US" sz="1800">
                <a:latin typeface="Arial"/>
                <a:ea typeface="Arial"/>
                <a:cs typeface="Arial"/>
                <a:sym typeface="Arial"/>
              </a:rPr>
              <a:t>Handle dynamic dropdown suggestions if they appear.</a:t>
            </a:r>
            <a:endParaRPr sz="1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4700">
              <a:latin typeface="Arial"/>
              <a:ea typeface="Arial"/>
              <a:cs typeface="Arial"/>
              <a:sym typeface="Arial"/>
            </a:endParaRPr>
          </a:p>
          <a:p>
            <a:pPr indent="0" lvl="0" marL="0" rtl="0" algn="l">
              <a:spcBef>
                <a:spcPts val="48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0"/>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222" name="Google Shape;222;p30"/>
          <p:cNvSpPr txBox="1"/>
          <p:nvPr>
            <p:ph idx="1" type="body"/>
          </p:nvPr>
        </p:nvSpPr>
        <p:spPr>
          <a:xfrm>
            <a:off x="190500" y="990600"/>
            <a:ext cx="8763000" cy="53340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en-US" sz="1800">
                <a:latin typeface="Arial"/>
                <a:ea typeface="Arial"/>
                <a:cs typeface="Arial"/>
                <a:sym typeface="Arial"/>
              </a:rPr>
              <a:t>Sub-Process 4: Submit Data and Retrieve Quote</a:t>
            </a:r>
            <a:endParaRPr b="1" sz="1800">
              <a:latin typeface="Arial"/>
              <a:ea typeface="Arial"/>
              <a:cs typeface="Arial"/>
              <a:sym typeface="Arial"/>
            </a:endParaRPr>
          </a:p>
          <a:p>
            <a:pPr indent="-342900" lvl="0" marL="457200" rtl="0" algn="l">
              <a:lnSpc>
                <a:spcPct val="115000"/>
              </a:lnSpc>
              <a:spcBef>
                <a:spcPts val="1200"/>
              </a:spcBef>
              <a:spcAft>
                <a:spcPts val="0"/>
              </a:spcAft>
              <a:buSzPts val="1800"/>
              <a:buFont typeface="Arial"/>
              <a:buChar char="●"/>
            </a:pPr>
            <a:r>
              <a:rPr b="1" lang="en-US" sz="1800">
                <a:latin typeface="Arial"/>
                <a:ea typeface="Arial"/>
                <a:cs typeface="Arial"/>
                <a:sym typeface="Arial"/>
              </a:rPr>
              <a:t>Description</a:t>
            </a:r>
            <a:r>
              <a:rPr lang="en-US" sz="1800">
                <a:latin typeface="Arial"/>
                <a:ea typeface="Arial"/>
                <a:cs typeface="Arial"/>
                <a:sym typeface="Arial"/>
              </a:rPr>
              <a:t>:</a:t>
            </a:r>
            <a:br>
              <a:rPr lang="en-US" sz="1800">
                <a:latin typeface="Arial"/>
                <a:ea typeface="Arial"/>
                <a:cs typeface="Arial"/>
                <a:sym typeface="Arial"/>
              </a:rPr>
            </a:br>
            <a:r>
              <a:rPr lang="en-US" sz="1800">
                <a:latin typeface="Arial"/>
                <a:ea typeface="Arial"/>
                <a:cs typeface="Arial"/>
                <a:sym typeface="Arial"/>
              </a:rPr>
              <a:t>Submit the form and wait for the website to calculate the shipping cost.</a:t>
            </a:r>
            <a:endParaRPr sz="1800">
              <a:latin typeface="Arial"/>
              <a:ea typeface="Arial"/>
              <a:cs typeface="Arial"/>
              <a:sym typeface="Arial"/>
            </a:endParaRPr>
          </a:p>
          <a:p>
            <a:pPr indent="-342900" lvl="0" marL="457200" rtl="0" algn="l">
              <a:lnSpc>
                <a:spcPct val="115000"/>
              </a:lnSpc>
              <a:spcBef>
                <a:spcPts val="0"/>
              </a:spcBef>
              <a:spcAft>
                <a:spcPts val="0"/>
              </a:spcAft>
              <a:buSzPts val="1800"/>
              <a:buFont typeface="Arial"/>
              <a:buChar char="●"/>
            </a:pPr>
            <a:r>
              <a:rPr b="1" lang="en-US" sz="1800">
                <a:latin typeface="Arial"/>
                <a:ea typeface="Arial"/>
                <a:cs typeface="Arial"/>
                <a:sym typeface="Arial"/>
              </a:rPr>
              <a:t>Activities</a:t>
            </a:r>
            <a:r>
              <a:rPr lang="en-US" sz="1800">
                <a:latin typeface="Arial"/>
                <a:ea typeface="Arial"/>
                <a:cs typeface="Arial"/>
                <a:sym typeface="Arial"/>
              </a:rPr>
              <a:t>:</a:t>
            </a:r>
            <a:endParaRPr sz="1800">
              <a:latin typeface="Arial"/>
              <a:ea typeface="Arial"/>
              <a:cs typeface="Arial"/>
              <a:sym typeface="Arial"/>
            </a:endParaRPr>
          </a:p>
          <a:p>
            <a:pPr indent="-342900" lvl="1" marL="914400" rtl="0" algn="l">
              <a:lnSpc>
                <a:spcPct val="115000"/>
              </a:lnSpc>
              <a:spcBef>
                <a:spcPts val="0"/>
              </a:spcBef>
              <a:spcAft>
                <a:spcPts val="0"/>
              </a:spcAft>
              <a:buSzPts val="1800"/>
              <a:buAutoNum type="arabicPeriod"/>
            </a:pPr>
            <a:r>
              <a:rPr lang="en-US" sz="1800">
                <a:latin typeface="Arial"/>
                <a:ea typeface="Arial"/>
                <a:cs typeface="Arial"/>
                <a:sym typeface="Arial"/>
              </a:rPr>
              <a:t>Click the "Get Quote" button on the website.</a:t>
            </a:r>
            <a:endParaRPr sz="1800">
              <a:latin typeface="Arial"/>
              <a:ea typeface="Arial"/>
              <a:cs typeface="Arial"/>
              <a:sym typeface="Arial"/>
            </a:endParaRPr>
          </a:p>
          <a:p>
            <a:pPr indent="-342900" lvl="1" marL="914400" rtl="0" algn="l">
              <a:lnSpc>
                <a:spcPct val="115000"/>
              </a:lnSpc>
              <a:spcBef>
                <a:spcPts val="0"/>
              </a:spcBef>
              <a:spcAft>
                <a:spcPts val="0"/>
              </a:spcAft>
              <a:buSzPts val="1800"/>
              <a:buAutoNum type="arabicPeriod"/>
            </a:pPr>
            <a:r>
              <a:rPr lang="en-US" sz="1800">
                <a:latin typeface="Arial"/>
                <a:ea typeface="Arial"/>
                <a:cs typeface="Arial"/>
                <a:sym typeface="Arial"/>
              </a:rPr>
              <a:t>Wait for the quote to load.</a:t>
            </a:r>
            <a:endParaRPr sz="1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800">
              <a:latin typeface="Arial"/>
              <a:ea typeface="Arial"/>
              <a:cs typeface="Arial"/>
              <a:sym typeface="Arial"/>
            </a:endParaRPr>
          </a:p>
          <a:p>
            <a:pPr indent="0" lvl="0" marL="342900" rtl="0" algn="l">
              <a:spcBef>
                <a:spcPts val="480"/>
              </a:spcBef>
              <a:spcAft>
                <a:spcPts val="0"/>
              </a:spcAft>
              <a:buNone/>
            </a:pPr>
            <a:r>
              <a:t/>
            </a:r>
            <a:endParaRPr sz="1800"/>
          </a:p>
          <a:p>
            <a:pPr indent="0" lvl="0" marL="0" rtl="0" algn="l">
              <a:spcBef>
                <a:spcPts val="480"/>
              </a:spcBef>
              <a:spcAft>
                <a:spcPts val="0"/>
              </a:spcAft>
              <a:buNone/>
            </a:pPr>
            <a:r>
              <a:t/>
            </a:r>
            <a:endParaRPr sz="1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1"/>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229" name="Google Shape;229;p31"/>
          <p:cNvSpPr txBox="1"/>
          <p:nvPr>
            <p:ph idx="1" type="body"/>
          </p:nvPr>
        </p:nvSpPr>
        <p:spPr>
          <a:xfrm>
            <a:off x="190500" y="990600"/>
            <a:ext cx="8763000" cy="53340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en-US" sz="1800">
                <a:latin typeface="Arial"/>
                <a:ea typeface="Arial"/>
                <a:cs typeface="Arial"/>
                <a:sym typeface="Arial"/>
              </a:rPr>
              <a:t>Sub-Process 5: Extract and Display Result</a:t>
            </a:r>
            <a:endParaRPr b="1" sz="1800">
              <a:latin typeface="Arial"/>
              <a:ea typeface="Arial"/>
              <a:cs typeface="Arial"/>
              <a:sym typeface="Arial"/>
            </a:endParaRPr>
          </a:p>
          <a:p>
            <a:pPr indent="-342900" lvl="0" marL="457200" rtl="0" algn="l">
              <a:lnSpc>
                <a:spcPct val="115000"/>
              </a:lnSpc>
              <a:spcBef>
                <a:spcPts val="1200"/>
              </a:spcBef>
              <a:spcAft>
                <a:spcPts val="0"/>
              </a:spcAft>
              <a:buSzPts val="1800"/>
              <a:buFont typeface="Arial"/>
              <a:buChar char="●"/>
            </a:pPr>
            <a:r>
              <a:rPr b="1" lang="en-US" sz="1800">
                <a:latin typeface="Arial"/>
                <a:ea typeface="Arial"/>
                <a:cs typeface="Arial"/>
                <a:sym typeface="Arial"/>
              </a:rPr>
              <a:t>Description</a:t>
            </a:r>
            <a:r>
              <a:rPr lang="en-US" sz="1800">
                <a:latin typeface="Arial"/>
                <a:ea typeface="Arial"/>
                <a:cs typeface="Arial"/>
                <a:sym typeface="Arial"/>
              </a:rPr>
              <a:t>:</a:t>
            </a:r>
            <a:br>
              <a:rPr lang="en-US" sz="1800">
                <a:latin typeface="Arial"/>
                <a:ea typeface="Arial"/>
                <a:cs typeface="Arial"/>
                <a:sym typeface="Arial"/>
              </a:rPr>
            </a:br>
            <a:r>
              <a:rPr lang="en-US" sz="1800">
                <a:latin typeface="Arial"/>
                <a:ea typeface="Arial"/>
                <a:cs typeface="Arial"/>
                <a:sym typeface="Arial"/>
              </a:rPr>
              <a:t>Retrieve the displayed shipping cost from the website and show it to the user.</a:t>
            </a:r>
            <a:endParaRPr sz="1800">
              <a:latin typeface="Arial"/>
              <a:ea typeface="Arial"/>
              <a:cs typeface="Arial"/>
              <a:sym typeface="Arial"/>
            </a:endParaRPr>
          </a:p>
          <a:p>
            <a:pPr indent="-342900" lvl="0" marL="457200" rtl="0" algn="l">
              <a:lnSpc>
                <a:spcPct val="115000"/>
              </a:lnSpc>
              <a:spcBef>
                <a:spcPts val="0"/>
              </a:spcBef>
              <a:spcAft>
                <a:spcPts val="0"/>
              </a:spcAft>
              <a:buSzPts val="1800"/>
              <a:buFont typeface="Arial"/>
              <a:buChar char="●"/>
            </a:pPr>
            <a:r>
              <a:rPr b="1" lang="en-US" sz="1800">
                <a:latin typeface="Arial"/>
                <a:ea typeface="Arial"/>
                <a:cs typeface="Arial"/>
                <a:sym typeface="Arial"/>
              </a:rPr>
              <a:t>Activities</a:t>
            </a:r>
            <a:r>
              <a:rPr lang="en-US" sz="1800">
                <a:latin typeface="Arial"/>
                <a:ea typeface="Arial"/>
                <a:cs typeface="Arial"/>
                <a:sym typeface="Arial"/>
              </a:rPr>
              <a:t>:</a:t>
            </a:r>
            <a:endParaRPr sz="1800">
              <a:latin typeface="Arial"/>
              <a:ea typeface="Arial"/>
              <a:cs typeface="Arial"/>
              <a:sym typeface="Arial"/>
            </a:endParaRPr>
          </a:p>
          <a:p>
            <a:pPr indent="-342900" lvl="1" marL="914400" rtl="0" algn="l">
              <a:lnSpc>
                <a:spcPct val="115000"/>
              </a:lnSpc>
              <a:spcBef>
                <a:spcPts val="0"/>
              </a:spcBef>
              <a:spcAft>
                <a:spcPts val="0"/>
              </a:spcAft>
              <a:buSzPts val="1800"/>
              <a:buAutoNum type="arabicPeriod"/>
            </a:pPr>
            <a:r>
              <a:rPr lang="en-US" sz="1800">
                <a:latin typeface="Arial"/>
                <a:ea typeface="Arial"/>
                <a:cs typeface="Arial"/>
                <a:sym typeface="Arial"/>
              </a:rPr>
              <a:t>Use data scraping or text extraction to capture the shipping cost.</a:t>
            </a:r>
            <a:endParaRPr sz="1800">
              <a:latin typeface="Arial"/>
              <a:ea typeface="Arial"/>
              <a:cs typeface="Arial"/>
              <a:sym typeface="Arial"/>
            </a:endParaRPr>
          </a:p>
          <a:p>
            <a:pPr indent="-342900" lvl="1" marL="914400" rtl="0" algn="l">
              <a:lnSpc>
                <a:spcPct val="115000"/>
              </a:lnSpc>
              <a:spcBef>
                <a:spcPts val="0"/>
              </a:spcBef>
              <a:spcAft>
                <a:spcPts val="0"/>
              </a:spcAft>
              <a:buSzPts val="1800"/>
              <a:buAutoNum type="arabicPeriod"/>
            </a:pPr>
            <a:r>
              <a:rPr lang="en-US" sz="1800">
                <a:latin typeface="Arial"/>
                <a:ea typeface="Arial"/>
                <a:cs typeface="Arial"/>
                <a:sym typeface="Arial"/>
              </a:rPr>
              <a:t>Display the cost to the user using a message box.</a:t>
            </a:r>
            <a:endParaRPr sz="1800">
              <a:latin typeface="Arial"/>
              <a:ea typeface="Arial"/>
              <a:cs typeface="Arial"/>
              <a:sym typeface="Arial"/>
            </a:endParaRPr>
          </a:p>
          <a:p>
            <a:pPr indent="0" lvl="0" marL="342900" rtl="0" algn="l">
              <a:lnSpc>
                <a:spcPct val="115000"/>
              </a:lnSpc>
              <a:spcBef>
                <a:spcPts val="1200"/>
              </a:spcBef>
              <a:spcAft>
                <a:spcPts val="0"/>
              </a:spcAft>
              <a:buNone/>
            </a:pPr>
            <a:r>
              <a:t/>
            </a:r>
            <a:endParaRPr sz="1800">
              <a:latin typeface="Arial"/>
              <a:ea typeface="Arial"/>
              <a:cs typeface="Arial"/>
              <a:sym typeface="Arial"/>
            </a:endParaRPr>
          </a:p>
          <a:p>
            <a:pPr indent="0" lvl="0" marL="0" rtl="0" algn="l">
              <a:spcBef>
                <a:spcPts val="1200"/>
              </a:spcBef>
              <a:spcAft>
                <a:spcPts val="0"/>
              </a:spcAft>
              <a:buNone/>
            </a:pPr>
            <a:r>
              <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2"/>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Implementation</a:t>
            </a:r>
            <a:endParaRPr>
              <a:latin typeface="Calibri"/>
              <a:ea typeface="Calibri"/>
              <a:cs typeface="Calibri"/>
              <a:sym typeface="Calibri"/>
            </a:endParaRPr>
          </a:p>
        </p:txBody>
      </p:sp>
      <p:sp>
        <p:nvSpPr>
          <p:cNvPr id="236" name="Google Shape;236;p32"/>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US" sz="1800">
                <a:latin typeface="Arial"/>
                <a:ea typeface="Arial"/>
                <a:cs typeface="Arial"/>
                <a:sym typeface="Arial"/>
              </a:rPr>
              <a:t>Implementation of Module 1: Collect User Input</a:t>
            </a:r>
            <a:endParaRPr b="1" sz="1800">
              <a:latin typeface="Arial"/>
              <a:ea typeface="Arial"/>
              <a:cs typeface="Arial"/>
              <a:sym typeface="Arial"/>
            </a:endParaRPr>
          </a:p>
          <a:p>
            <a:pPr indent="0" lvl="0" marL="914400" rtl="0" algn="l">
              <a:lnSpc>
                <a:spcPct val="115000"/>
              </a:lnSpc>
              <a:spcBef>
                <a:spcPts val="1200"/>
              </a:spcBef>
              <a:spcAft>
                <a:spcPts val="0"/>
              </a:spcAft>
              <a:buNone/>
            </a:pPr>
            <a:r>
              <a:rPr lang="en-US" sz="1800">
                <a:latin typeface="Arial"/>
                <a:ea typeface="Arial"/>
                <a:cs typeface="Arial"/>
                <a:sym typeface="Arial"/>
              </a:rPr>
              <a:t>Use the </a:t>
            </a:r>
            <a:r>
              <a:rPr b="1" lang="en-US" sz="1800">
                <a:latin typeface="Arial"/>
                <a:ea typeface="Arial"/>
                <a:cs typeface="Arial"/>
                <a:sym typeface="Arial"/>
              </a:rPr>
              <a:t>Input Dialog</a:t>
            </a:r>
            <a:r>
              <a:rPr lang="en-US" sz="1800">
                <a:latin typeface="Arial"/>
                <a:ea typeface="Arial"/>
                <a:cs typeface="Arial"/>
                <a:sym typeface="Arial"/>
              </a:rPr>
              <a:t> activity to prompt the user for the following details:</a:t>
            </a:r>
            <a:endParaRPr sz="1800">
              <a:latin typeface="Arial"/>
              <a:ea typeface="Arial"/>
              <a:cs typeface="Arial"/>
              <a:sym typeface="Arial"/>
            </a:endParaRPr>
          </a:p>
          <a:p>
            <a:pPr indent="-342900" lvl="2" marL="1371600" rtl="0" algn="l">
              <a:lnSpc>
                <a:spcPct val="115000"/>
              </a:lnSpc>
              <a:spcBef>
                <a:spcPts val="1200"/>
              </a:spcBef>
              <a:spcAft>
                <a:spcPts val="0"/>
              </a:spcAft>
              <a:buSzPts val="1800"/>
              <a:buChar char="■"/>
            </a:pPr>
            <a:r>
              <a:rPr lang="en-US">
                <a:latin typeface="Arial"/>
                <a:ea typeface="Arial"/>
                <a:cs typeface="Arial"/>
                <a:sym typeface="Arial"/>
              </a:rPr>
              <a:t>Sender Address</a:t>
            </a:r>
            <a:endParaRPr>
              <a:latin typeface="Arial"/>
              <a:ea typeface="Arial"/>
              <a:cs typeface="Arial"/>
              <a:sym typeface="Arial"/>
            </a:endParaRPr>
          </a:p>
          <a:p>
            <a:pPr indent="-342900" lvl="2" marL="1371600" rtl="0" algn="l">
              <a:lnSpc>
                <a:spcPct val="115000"/>
              </a:lnSpc>
              <a:spcBef>
                <a:spcPts val="0"/>
              </a:spcBef>
              <a:spcAft>
                <a:spcPts val="0"/>
              </a:spcAft>
              <a:buSzPts val="1800"/>
              <a:buChar char="■"/>
            </a:pPr>
            <a:r>
              <a:rPr lang="en-US">
                <a:latin typeface="Arial"/>
                <a:ea typeface="Arial"/>
                <a:cs typeface="Arial"/>
                <a:sym typeface="Arial"/>
              </a:rPr>
              <a:t>Recipient Address</a:t>
            </a:r>
            <a:endParaRPr>
              <a:latin typeface="Arial"/>
              <a:ea typeface="Arial"/>
              <a:cs typeface="Arial"/>
              <a:sym typeface="Arial"/>
            </a:endParaRPr>
          </a:p>
          <a:p>
            <a:pPr indent="-342900" lvl="2" marL="1371600" rtl="0" algn="l">
              <a:lnSpc>
                <a:spcPct val="115000"/>
              </a:lnSpc>
              <a:spcBef>
                <a:spcPts val="0"/>
              </a:spcBef>
              <a:spcAft>
                <a:spcPts val="0"/>
              </a:spcAft>
              <a:buSzPts val="1800"/>
              <a:buChar char="■"/>
            </a:pPr>
            <a:r>
              <a:rPr lang="en-US">
                <a:latin typeface="Arial"/>
                <a:ea typeface="Arial"/>
                <a:cs typeface="Arial"/>
                <a:sym typeface="Arial"/>
              </a:rPr>
              <a:t>Package Weight</a:t>
            </a:r>
            <a:endParaRPr>
              <a:latin typeface="Arial"/>
              <a:ea typeface="Arial"/>
              <a:cs typeface="Arial"/>
              <a:sym typeface="Arial"/>
            </a:endParaRPr>
          </a:p>
          <a:p>
            <a:pPr indent="-342900" lvl="2" marL="1371600" rtl="0" algn="l">
              <a:lnSpc>
                <a:spcPct val="115000"/>
              </a:lnSpc>
              <a:spcBef>
                <a:spcPts val="0"/>
              </a:spcBef>
              <a:spcAft>
                <a:spcPts val="0"/>
              </a:spcAft>
              <a:buSzPts val="1800"/>
              <a:buChar char="■"/>
            </a:pPr>
            <a:r>
              <a:rPr lang="en-US">
                <a:latin typeface="Arial"/>
                <a:ea typeface="Arial"/>
                <a:cs typeface="Arial"/>
                <a:sym typeface="Arial"/>
              </a:rPr>
              <a:t>Package Dimensions (Length, Width, Height)</a:t>
            </a:r>
            <a:endParaRPr>
              <a:latin typeface="Arial"/>
              <a:ea typeface="Arial"/>
              <a:cs typeface="Arial"/>
              <a:sym typeface="Arial"/>
            </a:endParaRPr>
          </a:p>
          <a:p>
            <a:pPr indent="0" lvl="0" marL="0" rtl="0" algn="l">
              <a:lnSpc>
                <a:spcPct val="115000"/>
              </a:lnSpc>
              <a:spcBef>
                <a:spcPts val="1400"/>
              </a:spcBef>
              <a:spcAft>
                <a:spcPts val="0"/>
              </a:spcAft>
              <a:buNone/>
            </a:pPr>
            <a:r>
              <a:rPr b="1" lang="en-US" sz="1800">
                <a:latin typeface="Arial"/>
                <a:ea typeface="Arial"/>
                <a:cs typeface="Arial"/>
                <a:sym typeface="Arial"/>
              </a:rPr>
              <a:t>Implementation of Module 2: Web Interaction (Courier Website Automation)</a:t>
            </a:r>
            <a:endParaRPr b="1" sz="1800">
              <a:latin typeface="Arial"/>
              <a:ea typeface="Arial"/>
              <a:cs typeface="Arial"/>
              <a:sym typeface="Arial"/>
            </a:endParaRPr>
          </a:p>
          <a:p>
            <a:pPr indent="-342900" lvl="1" marL="914400" rtl="0" algn="l">
              <a:lnSpc>
                <a:spcPct val="115000"/>
              </a:lnSpc>
              <a:spcBef>
                <a:spcPts val="1200"/>
              </a:spcBef>
              <a:spcAft>
                <a:spcPts val="0"/>
              </a:spcAft>
              <a:buSzPts val="1800"/>
              <a:buAutoNum type="arabicPeriod"/>
            </a:pPr>
            <a:r>
              <a:rPr lang="en-US" sz="1800">
                <a:latin typeface="Arial"/>
                <a:ea typeface="Arial"/>
                <a:cs typeface="Arial"/>
                <a:sym typeface="Arial"/>
              </a:rPr>
              <a:t>Use the </a:t>
            </a:r>
            <a:r>
              <a:rPr b="1" lang="en-US" sz="1800">
                <a:latin typeface="Arial"/>
                <a:ea typeface="Arial"/>
                <a:cs typeface="Arial"/>
                <a:sym typeface="Arial"/>
              </a:rPr>
              <a:t>Use Application/Browser</a:t>
            </a:r>
            <a:r>
              <a:rPr lang="en-US" sz="1800">
                <a:latin typeface="Arial"/>
                <a:ea typeface="Arial"/>
                <a:cs typeface="Arial"/>
                <a:sym typeface="Arial"/>
              </a:rPr>
              <a:t> activity to open the courier website in the default browser.</a:t>
            </a:r>
            <a:endParaRPr sz="1800">
              <a:latin typeface="Arial"/>
              <a:ea typeface="Arial"/>
              <a:cs typeface="Arial"/>
              <a:sym typeface="Arial"/>
            </a:endParaRPr>
          </a:p>
          <a:p>
            <a:pPr indent="-342900" lvl="1" marL="914400" rtl="0" algn="l">
              <a:lnSpc>
                <a:spcPct val="115000"/>
              </a:lnSpc>
              <a:spcBef>
                <a:spcPts val="0"/>
              </a:spcBef>
              <a:spcAft>
                <a:spcPts val="0"/>
              </a:spcAft>
              <a:buSzPts val="1800"/>
              <a:buAutoNum type="arabicPeriod"/>
            </a:pPr>
            <a:r>
              <a:rPr lang="en-US" sz="1800">
                <a:latin typeface="Arial"/>
                <a:ea typeface="Arial"/>
                <a:cs typeface="Arial"/>
                <a:sym typeface="Arial"/>
              </a:rPr>
              <a:t>Use </a:t>
            </a:r>
            <a:r>
              <a:rPr b="1" lang="en-US" sz="1800">
                <a:latin typeface="Arial"/>
                <a:ea typeface="Arial"/>
                <a:cs typeface="Arial"/>
                <a:sym typeface="Arial"/>
              </a:rPr>
              <a:t>Type Into</a:t>
            </a:r>
            <a:r>
              <a:rPr lang="en-US" sz="1800">
                <a:latin typeface="Arial"/>
                <a:ea typeface="Arial"/>
                <a:cs typeface="Arial"/>
                <a:sym typeface="Arial"/>
              </a:rPr>
              <a:t> activities to input the sender address, recipient address, weight, and dimensions into the respective fields on the website.</a:t>
            </a:r>
            <a:endParaRPr sz="1800">
              <a:latin typeface="Arial"/>
              <a:ea typeface="Arial"/>
              <a:cs typeface="Arial"/>
              <a:sym typeface="Arial"/>
            </a:endParaRPr>
          </a:p>
          <a:p>
            <a:pPr indent="-342900" lvl="1" marL="914400" rtl="0" algn="l">
              <a:lnSpc>
                <a:spcPct val="115000"/>
              </a:lnSpc>
              <a:spcBef>
                <a:spcPts val="0"/>
              </a:spcBef>
              <a:spcAft>
                <a:spcPts val="0"/>
              </a:spcAft>
              <a:buSzPts val="1800"/>
              <a:buAutoNum type="arabicPeriod"/>
            </a:pPr>
            <a:r>
              <a:rPr lang="en-US" sz="1800">
                <a:latin typeface="Arial"/>
                <a:ea typeface="Arial"/>
                <a:cs typeface="Arial"/>
                <a:sym typeface="Arial"/>
              </a:rPr>
              <a:t>Use the </a:t>
            </a:r>
            <a:r>
              <a:rPr b="1" lang="en-US" sz="1800">
                <a:latin typeface="Arial"/>
                <a:ea typeface="Arial"/>
                <a:cs typeface="Arial"/>
                <a:sym typeface="Arial"/>
              </a:rPr>
              <a:t>Click</a:t>
            </a:r>
            <a:r>
              <a:rPr lang="en-US" sz="1800">
                <a:latin typeface="Arial"/>
                <a:ea typeface="Arial"/>
                <a:cs typeface="Arial"/>
                <a:sym typeface="Arial"/>
              </a:rPr>
              <a:t> activity to submit the data by clicking the "Get Quote" button.</a:t>
            </a:r>
            <a:endParaRPr sz="1800">
              <a:latin typeface="Arial"/>
              <a:ea typeface="Arial"/>
              <a:cs typeface="Arial"/>
              <a:sym typeface="Arial"/>
            </a:endParaRPr>
          </a:p>
          <a:p>
            <a:pPr indent="-342900" lvl="1" marL="914400" rtl="0" algn="l">
              <a:lnSpc>
                <a:spcPct val="115000"/>
              </a:lnSpc>
              <a:spcBef>
                <a:spcPts val="0"/>
              </a:spcBef>
              <a:spcAft>
                <a:spcPts val="0"/>
              </a:spcAft>
              <a:buSzPts val="1800"/>
              <a:buAutoNum type="arabicPeriod"/>
            </a:pPr>
            <a:r>
              <a:rPr lang="en-US" sz="1800">
                <a:latin typeface="Arial"/>
                <a:ea typeface="Arial"/>
                <a:cs typeface="Arial"/>
                <a:sym typeface="Arial"/>
              </a:rPr>
              <a:t>Use </a:t>
            </a:r>
            <a:r>
              <a:rPr b="1" lang="en-US" sz="1800">
                <a:latin typeface="Arial"/>
                <a:ea typeface="Arial"/>
                <a:cs typeface="Arial"/>
                <a:sym typeface="Arial"/>
              </a:rPr>
              <a:t>Delay</a:t>
            </a:r>
            <a:r>
              <a:rPr lang="en-US" sz="1800">
                <a:latin typeface="Arial"/>
                <a:ea typeface="Arial"/>
                <a:cs typeface="Arial"/>
                <a:sym typeface="Arial"/>
              </a:rPr>
              <a:t> or </a:t>
            </a:r>
            <a:r>
              <a:rPr b="1" lang="en-US" sz="1800">
                <a:latin typeface="Arial"/>
                <a:ea typeface="Arial"/>
                <a:cs typeface="Arial"/>
                <a:sym typeface="Arial"/>
              </a:rPr>
              <a:t>Element Exists</a:t>
            </a:r>
            <a:r>
              <a:rPr lang="en-US" sz="1800">
                <a:latin typeface="Arial"/>
                <a:ea typeface="Arial"/>
                <a:cs typeface="Arial"/>
                <a:sym typeface="Arial"/>
              </a:rPr>
              <a:t> activities to ensure the website has loaded the result before proceeding to the next module.</a:t>
            </a:r>
            <a:endParaRPr sz="1800">
              <a:latin typeface="Arial"/>
              <a:ea typeface="Arial"/>
              <a:cs typeface="Arial"/>
              <a:sym typeface="Arial"/>
            </a:endParaRPr>
          </a:p>
          <a:p>
            <a:pPr indent="0" lvl="0" marL="0" rtl="0" algn="l">
              <a:lnSpc>
                <a:spcPct val="115000"/>
              </a:lnSpc>
              <a:spcBef>
                <a:spcPts val="1200"/>
              </a:spcBef>
              <a:spcAft>
                <a:spcPts val="0"/>
              </a:spcAft>
              <a:buNone/>
            </a:pPr>
            <a:r>
              <a:t/>
            </a:r>
            <a:endParaRPr sz="1800">
              <a:latin typeface="Arial"/>
              <a:ea typeface="Arial"/>
              <a:cs typeface="Arial"/>
              <a:sym typeface="Arial"/>
            </a:endParaRPr>
          </a:p>
          <a:p>
            <a:pPr indent="0" lvl="0" marL="1371600" rtl="0" algn="l">
              <a:lnSpc>
                <a:spcPct val="115000"/>
              </a:lnSpc>
              <a:spcBef>
                <a:spcPts val="1200"/>
              </a:spcBef>
              <a:spcAft>
                <a:spcPts val="0"/>
              </a:spcAft>
              <a:buNone/>
            </a:pPr>
            <a:r>
              <a:t/>
            </a:r>
            <a:endParaRPr sz="1800">
              <a:latin typeface="Arial"/>
              <a:ea typeface="Arial"/>
              <a:cs typeface="Arial"/>
              <a:sym typeface="Arial"/>
            </a:endParaRPr>
          </a:p>
          <a:p>
            <a:pPr indent="0" lvl="0" marL="1371600" rtl="0" algn="l">
              <a:lnSpc>
                <a:spcPct val="115000"/>
              </a:lnSpc>
              <a:spcBef>
                <a:spcPts val="1200"/>
              </a:spcBef>
              <a:spcAft>
                <a:spcPts val="0"/>
              </a:spcAft>
              <a:buNone/>
            </a:pPr>
            <a:r>
              <a:t/>
            </a:r>
            <a:endParaRPr sz="1800">
              <a:latin typeface="Arial"/>
              <a:ea typeface="Arial"/>
              <a:cs typeface="Arial"/>
              <a:sym typeface="Arial"/>
            </a:endParaRPr>
          </a:p>
          <a:p>
            <a:pPr indent="0" lvl="0" marL="342900" rtl="0" algn="l">
              <a:lnSpc>
                <a:spcPct val="114000"/>
              </a:lnSpc>
              <a:spcBef>
                <a:spcPts val="1200"/>
              </a:spcBef>
              <a:spcAft>
                <a:spcPts val="0"/>
              </a:spcAft>
              <a:buNone/>
            </a:pPr>
            <a:r>
              <a:t/>
            </a:r>
            <a:endParaRPr sz="1800"/>
          </a:p>
          <a:p>
            <a:pPr indent="-190500" lvl="0" marL="342900" rtl="0" algn="l">
              <a:lnSpc>
                <a:spcPct val="114000"/>
              </a:lnSpc>
              <a:spcBef>
                <a:spcPts val="480"/>
              </a:spcBef>
              <a:spcAft>
                <a:spcPts val="0"/>
              </a:spcAft>
              <a:buClr>
                <a:schemeClr val="dk1"/>
              </a:buClr>
              <a:buSzPts val="2400"/>
              <a:buFont typeface="Noto Sans Symbols"/>
              <a:buNone/>
            </a:pPr>
            <a:r>
              <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3"/>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Screenshots</a:t>
            </a:r>
            <a:endParaRPr/>
          </a:p>
        </p:txBody>
      </p:sp>
      <p:sp>
        <p:nvSpPr>
          <p:cNvPr id="243" name="Google Shape;243;p33"/>
          <p:cNvSpPr txBox="1"/>
          <p:nvPr>
            <p:ph idx="1" type="body"/>
          </p:nvPr>
        </p:nvSpPr>
        <p:spPr>
          <a:xfrm>
            <a:off x="190500" y="990600"/>
            <a:ext cx="8763000" cy="5334000"/>
          </a:xfrm>
          <a:prstGeom prst="rect">
            <a:avLst/>
          </a:prstGeom>
        </p:spPr>
        <p:txBody>
          <a:bodyPr anchorCtr="0" anchor="t" bIns="45700" lIns="91425" spcFirstLastPara="1" rIns="91425" wrap="square" tIns="45700">
            <a:normAutofit/>
          </a:bodyPr>
          <a:lstStyle/>
          <a:p>
            <a:pPr indent="0" lvl="0" marL="0" rtl="0" algn="l">
              <a:spcBef>
                <a:spcPts val="480"/>
              </a:spcBef>
              <a:spcAft>
                <a:spcPts val="0"/>
              </a:spcAft>
              <a:buNone/>
            </a:pPr>
            <a:r>
              <a:t/>
            </a:r>
            <a:endParaRPr/>
          </a:p>
        </p:txBody>
      </p:sp>
      <p:pic>
        <p:nvPicPr>
          <p:cNvPr id="244" name="Google Shape;244;p33"/>
          <p:cNvPicPr preferRelativeResize="0"/>
          <p:nvPr/>
        </p:nvPicPr>
        <p:blipFill>
          <a:blip r:embed="rId3">
            <a:alphaModFix/>
          </a:blip>
          <a:stretch>
            <a:fillRect/>
          </a:stretch>
        </p:blipFill>
        <p:spPr>
          <a:xfrm>
            <a:off x="0" y="1026617"/>
            <a:ext cx="9143998" cy="480476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4"/>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251" name="Google Shape;251;p34"/>
          <p:cNvSpPr txBox="1"/>
          <p:nvPr>
            <p:ph idx="1" type="body"/>
          </p:nvPr>
        </p:nvSpPr>
        <p:spPr>
          <a:xfrm>
            <a:off x="190500" y="990600"/>
            <a:ext cx="8763000" cy="5334000"/>
          </a:xfrm>
          <a:prstGeom prst="rect">
            <a:avLst/>
          </a:prstGeom>
        </p:spPr>
        <p:txBody>
          <a:bodyPr anchorCtr="0" anchor="t" bIns="45700" lIns="91425" spcFirstLastPara="1" rIns="91425" wrap="square" tIns="45700">
            <a:normAutofit/>
          </a:bodyPr>
          <a:lstStyle/>
          <a:p>
            <a:pPr indent="0" lvl="0" marL="0" rtl="0" algn="l">
              <a:spcBef>
                <a:spcPts val="480"/>
              </a:spcBef>
              <a:spcAft>
                <a:spcPts val="0"/>
              </a:spcAft>
              <a:buNone/>
            </a:pPr>
            <a:r>
              <a:t/>
            </a:r>
            <a:endParaRPr/>
          </a:p>
        </p:txBody>
      </p:sp>
      <p:pic>
        <p:nvPicPr>
          <p:cNvPr id="252" name="Google Shape;252;p34"/>
          <p:cNvPicPr preferRelativeResize="0"/>
          <p:nvPr/>
        </p:nvPicPr>
        <p:blipFill>
          <a:blip r:embed="rId3">
            <a:alphaModFix/>
          </a:blip>
          <a:stretch>
            <a:fillRect/>
          </a:stretch>
        </p:blipFill>
        <p:spPr>
          <a:xfrm>
            <a:off x="190500" y="1256254"/>
            <a:ext cx="8867698" cy="448524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Testing</a:t>
            </a:r>
            <a:endParaRPr>
              <a:latin typeface="Calibri"/>
              <a:ea typeface="Calibri"/>
              <a:cs typeface="Calibri"/>
              <a:sym typeface="Calibri"/>
            </a:endParaRPr>
          </a:p>
        </p:txBody>
      </p:sp>
      <p:sp>
        <p:nvSpPr>
          <p:cNvPr id="259" name="Google Shape;259;p35"/>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lang="en-US" sz="1700">
                <a:latin typeface="Arial"/>
                <a:ea typeface="Arial"/>
                <a:cs typeface="Arial"/>
                <a:sym typeface="Arial"/>
              </a:rPr>
              <a:t>The automation solution has undergone rigorous testing to ensure its functionality, reliability, and accuracy. Each module was tested individually and in combination to validate seamless integration and optimal performance.</a:t>
            </a:r>
            <a:endParaRPr sz="1700">
              <a:latin typeface="Arial"/>
              <a:ea typeface="Arial"/>
              <a:cs typeface="Arial"/>
              <a:sym typeface="Arial"/>
            </a:endParaRPr>
          </a:p>
          <a:p>
            <a:pPr indent="-336550" lvl="0" marL="457200" rtl="0" algn="l">
              <a:lnSpc>
                <a:spcPct val="115000"/>
              </a:lnSpc>
              <a:spcBef>
                <a:spcPts val="1200"/>
              </a:spcBef>
              <a:spcAft>
                <a:spcPts val="0"/>
              </a:spcAft>
              <a:buSzPts val="1700"/>
              <a:buFont typeface="Arial"/>
              <a:buAutoNum type="arabicPeriod"/>
            </a:pPr>
            <a:r>
              <a:rPr b="1" lang="en-US" sz="1700">
                <a:latin typeface="Arial"/>
                <a:ea typeface="Arial"/>
                <a:cs typeface="Arial"/>
                <a:sym typeface="Arial"/>
              </a:rPr>
              <a:t>Unit Testing</a:t>
            </a:r>
            <a:r>
              <a:rPr lang="en-US" sz="1700">
                <a:latin typeface="Arial"/>
                <a:ea typeface="Arial"/>
                <a:cs typeface="Arial"/>
                <a:sym typeface="Arial"/>
              </a:rPr>
              <a:t>:</a:t>
            </a:r>
            <a:endParaRPr sz="1700">
              <a:latin typeface="Arial"/>
              <a:ea typeface="Arial"/>
              <a:cs typeface="Arial"/>
              <a:sym typeface="Arial"/>
            </a:endParaRPr>
          </a:p>
          <a:p>
            <a:pPr indent="-336550" lvl="1" marL="914400" rtl="0" algn="l">
              <a:lnSpc>
                <a:spcPct val="115000"/>
              </a:lnSpc>
              <a:spcBef>
                <a:spcPts val="0"/>
              </a:spcBef>
              <a:spcAft>
                <a:spcPts val="0"/>
              </a:spcAft>
              <a:buSzPts val="1700"/>
              <a:buChar char="○"/>
            </a:pPr>
            <a:r>
              <a:rPr lang="en-US" sz="1700">
                <a:latin typeface="Arial"/>
                <a:ea typeface="Arial"/>
                <a:cs typeface="Arial"/>
                <a:sym typeface="Arial"/>
              </a:rPr>
              <a:t>Each module, including data collection and web interaction, was independently verified to ensure correct functionality. For example, the </a:t>
            </a:r>
            <a:r>
              <a:rPr b="1" lang="en-US" sz="1700">
                <a:latin typeface="Arial"/>
                <a:ea typeface="Arial"/>
                <a:cs typeface="Arial"/>
                <a:sym typeface="Arial"/>
              </a:rPr>
              <a:t>Input Dialog</a:t>
            </a:r>
            <a:r>
              <a:rPr lang="en-US" sz="1700">
                <a:latin typeface="Arial"/>
                <a:ea typeface="Arial"/>
                <a:cs typeface="Arial"/>
                <a:sym typeface="Arial"/>
              </a:rPr>
              <a:t> activity accurately captured and stored user inputs in the expected variables.</a:t>
            </a:r>
            <a:endParaRPr sz="1700">
              <a:latin typeface="Arial"/>
              <a:ea typeface="Arial"/>
              <a:cs typeface="Arial"/>
              <a:sym typeface="Arial"/>
            </a:endParaRPr>
          </a:p>
          <a:p>
            <a:pPr indent="-336550" lvl="0" marL="457200" rtl="0" algn="l">
              <a:lnSpc>
                <a:spcPct val="115000"/>
              </a:lnSpc>
              <a:spcBef>
                <a:spcPts val="0"/>
              </a:spcBef>
              <a:spcAft>
                <a:spcPts val="0"/>
              </a:spcAft>
              <a:buSzPts val="1700"/>
              <a:buFont typeface="Arial"/>
              <a:buAutoNum type="arabicPeriod"/>
            </a:pPr>
            <a:r>
              <a:rPr b="1" lang="en-US" sz="1700">
                <a:latin typeface="Arial"/>
                <a:ea typeface="Arial"/>
                <a:cs typeface="Arial"/>
                <a:sym typeface="Arial"/>
              </a:rPr>
              <a:t>Integration Testing</a:t>
            </a:r>
            <a:r>
              <a:rPr lang="en-US" sz="1700">
                <a:latin typeface="Arial"/>
                <a:ea typeface="Arial"/>
                <a:cs typeface="Arial"/>
                <a:sym typeface="Arial"/>
              </a:rPr>
              <a:t>:</a:t>
            </a:r>
            <a:endParaRPr sz="1700">
              <a:latin typeface="Arial"/>
              <a:ea typeface="Arial"/>
              <a:cs typeface="Arial"/>
              <a:sym typeface="Arial"/>
            </a:endParaRPr>
          </a:p>
          <a:p>
            <a:pPr indent="-336550" lvl="1" marL="914400" rtl="0" algn="l">
              <a:lnSpc>
                <a:spcPct val="115000"/>
              </a:lnSpc>
              <a:spcBef>
                <a:spcPts val="0"/>
              </a:spcBef>
              <a:spcAft>
                <a:spcPts val="0"/>
              </a:spcAft>
              <a:buSzPts val="1700"/>
              <a:buChar char="○"/>
            </a:pPr>
            <a:r>
              <a:rPr lang="en-US" sz="1700">
                <a:latin typeface="Arial"/>
                <a:ea typeface="Arial"/>
                <a:cs typeface="Arial"/>
                <a:sym typeface="Arial"/>
              </a:rPr>
              <a:t>The end-to-end workflow was tested to confirm that data collected in the input phase was accurately transmitted to the courier website. All steps worked cohesively without any data loss or mismanagement.</a:t>
            </a:r>
            <a:endParaRPr sz="1700">
              <a:latin typeface="Arial"/>
              <a:ea typeface="Arial"/>
              <a:cs typeface="Arial"/>
              <a:sym typeface="Arial"/>
            </a:endParaRPr>
          </a:p>
          <a:p>
            <a:pPr indent="-336550" lvl="0" marL="457200" rtl="0" algn="l">
              <a:lnSpc>
                <a:spcPct val="115000"/>
              </a:lnSpc>
              <a:spcBef>
                <a:spcPts val="0"/>
              </a:spcBef>
              <a:spcAft>
                <a:spcPts val="0"/>
              </a:spcAft>
              <a:buSzPts val="1700"/>
              <a:buFont typeface="Arial"/>
              <a:buAutoNum type="arabicPeriod"/>
            </a:pPr>
            <a:r>
              <a:rPr b="1" lang="en-US" sz="1700">
                <a:latin typeface="Arial"/>
                <a:ea typeface="Arial"/>
                <a:cs typeface="Arial"/>
                <a:sym typeface="Arial"/>
              </a:rPr>
              <a:t>System Testing</a:t>
            </a:r>
            <a:r>
              <a:rPr lang="en-US" sz="1700">
                <a:latin typeface="Arial"/>
                <a:ea typeface="Arial"/>
                <a:cs typeface="Arial"/>
                <a:sym typeface="Arial"/>
              </a:rPr>
              <a:t>:</a:t>
            </a:r>
            <a:endParaRPr sz="1700">
              <a:latin typeface="Arial"/>
              <a:ea typeface="Arial"/>
              <a:cs typeface="Arial"/>
              <a:sym typeface="Arial"/>
            </a:endParaRPr>
          </a:p>
          <a:p>
            <a:pPr indent="-336550" lvl="1" marL="914400" rtl="0" algn="l">
              <a:lnSpc>
                <a:spcPct val="115000"/>
              </a:lnSpc>
              <a:spcBef>
                <a:spcPts val="0"/>
              </a:spcBef>
              <a:spcAft>
                <a:spcPts val="0"/>
              </a:spcAft>
              <a:buSzPts val="1700"/>
              <a:buChar char="○"/>
            </a:pPr>
            <a:r>
              <a:rPr lang="en-US" sz="1700">
                <a:latin typeface="Arial"/>
                <a:ea typeface="Arial"/>
                <a:cs typeface="Arial"/>
                <a:sym typeface="Arial"/>
              </a:rPr>
              <a:t>The entire process was tested in real-world scenarios, using various input combinations. The system consistently retrieved accurate shipping quotes and displayed the results without any issues.</a:t>
            </a:r>
            <a:endParaRPr sz="1700">
              <a:latin typeface="Arial"/>
              <a:ea typeface="Arial"/>
              <a:cs typeface="Arial"/>
              <a:sym typeface="Arial"/>
            </a:endParaRPr>
          </a:p>
          <a:p>
            <a:pPr indent="-190500" lvl="0" marL="342900" rtl="0" algn="l">
              <a:lnSpc>
                <a:spcPct val="114000"/>
              </a:lnSpc>
              <a:spcBef>
                <a:spcPts val="1200"/>
              </a:spcBef>
              <a:spcAft>
                <a:spcPts val="0"/>
              </a:spcAft>
              <a:buClr>
                <a:schemeClr val="dk1"/>
              </a:buClr>
              <a:buSzPts val="2400"/>
              <a:buFont typeface="Noto Sans Symbols"/>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6"/>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Screenshots</a:t>
            </a:r>
            <a:endParaRPr/>
          </a:p>
        </p:txBody>
      </p:sp>
      <p:sp>
        <p:nvSpPr>
          <p:cNvPr id="266" name="Google Shape;266;p36"/>
          <p:cNvSpPr txBox="1"/>
          <p:nvPr>
            <p:ph idx="1" type="body"/>
          </p:nvPr>
        </p:nvSpPr>
        <p:spPr>
          <a:xfrm>
            <a:off x="190500" y="990600"/>
            <a:ext cx="8763000" cy="5334000"/>
          </a:xfrm>
          <a:prstGeom prst="rect">
            <a:avLst/>
          </a:prstGeom>
        </p:spPr>
        <p:txBody>
          <a:bodyPr anchorCtr="0" anchor="t" bIns="45700" lIns="91425" spcFirstLastPara="1" rIns="91425" wrap="square" tIns="45700">
            <a:normAutofit/>
          </a:bodyPr>
          <a:lstStyle/>
          <a:p>
            <a:pPr indent="0" lvl="0" marL="0" rtl="0" algn="l">
              <a:spcBef>
                <a:spcPts val="480"/>
              </a:spcBef>
              <a:spcAft>
                <a:spcPts val="0"/>
              </a:spcAft>
              <a:buNone/>
            </a:pPr>
            <a:r>
              <a:t/>
            </a:r>
            <a:endParaRPr/>
          </a:p>
        </p:txBody>
      </p:sp>
      <p:pic>
        <p:nvPicPr>
          <p:cNvPr id="267" name="Google Shape;267;p36"/>
          <p:cNvPicPr preferRelativeResize="0"/>
          <p:nvPr/>
        </p:nvPicPr>
        <p:blipFill>
          <a:blip r:embed="rId3">
            <a:alphaModFix/>
          </a:blip>
          <a:stretch>
            <a:fillRect/>
          </a:stretch>
        </p:blipFill>
        <p:spPr>
          <a:xfrm>
            <a:off x="2388523" y="1611421"/>
            <a:ext cx="4190125" cy="39436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7"/>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Conclusions</a:t>
            </a:r>
            <a:endParaRPr>
              <a:latin typeface="Calibri"/>
              <a:ea typeface="Calibri"/>
              <a:cs typeface="Calibri"/>
              <a:sym typeface="Calibri"/>
            </a:endParaRPr>
          </a:p>
        </p:txBody>
      </p:sp>
      <p:sp>
        <p:nvSpPr>
          <p:cNvPr id="274" name="Google Shape;274;p37"/>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lnSpcReduction="20000"/>
          </a:bodyPr>
          <a:lstStyle/>
          <a:p>
            <a:pPr indent="-342900" lvl="0" marL="342900" rtl="0" algn="l">
              <a:lnSpc>
                <a:spcPct val="115000"/>
              </a:lnSpc>
              <a:spcBef>
                <a:spcPts val="1200"/>
              </a:spcBef>
              <a:spcAft>
                <a:spcPts val="0"/>
              </a:spcAft>
              <a:buSzPts val="2400"/>
              <a:buChar char="▪"/>
            </a:pPr>
            <a:r>
              <a:rPr lang="en-US"/>
              <a:t>The automation project for shipping cost calculation has successfully streamlined the process of collecting user input, interacting with the courier website, and retrieving shipping quotes. Through rigorous testing and validation, the solution has proven to be accurate, reliable, and efficient in handling diverse scenarios, including error management and real-world data variations.</a:t>
            </a:r>
            <a:endParaRPr/>
          </a:p>
          <a:p>
            <a:pPr indent="0" lvl="0" marL="342900" rtl="0" algn="l">
              <a:lnSpc>
                <a:spcPct val="115000"/>
              </a:lnSpc>
              <a:spcBef>
                <a:spcPts val="1200"/>
              </a:spcBef>
              <a:spcAft>
                <a:spcPts val="0"/>
              </a:spcAft>
              <a:buNone/>
            </a:pPr>
            <a:r>
              <a:t/>
            </a:r>
            <a:endParaRPr/>
          </a:p>
          <a:p>
            <a:pPr indent="-342900" lvl="0" marL="342900" rtl="0" algn="l">
              <a:lnSpc>
                <a:spcPct val="115000"/>
              </a:lnSpc>
              <a:spcBef>
                <a:spcPts val="1200"/>
              </a:spcBef>
              <a:spcAft>
                <a:spcPts val="0"/>
              </a:spcAft>
              <a:buSzPts val="2400"/>
              <a:buChar char="▪"/>
            </a:pPr>
            <a:r>
              <a:rPr lang="en-US"/>
              <a:t>The developed solution serves as a scalable and adaptable framework, capable of integrating additional features or extending to other courier services, ensuring its long-term value and utility.</a:t>
            </a:r>
            <a:endParaRPr/>
          </a:p>
          <a:p>
            <a:pPr indent="0" lvl="0" marL="342900" rtl="0" algn="l">
              <a:lnSpc>
                <a:spcPct val="114000"/>
              </a:lnSpc>
              <a:spcBef>
                <a:spcPts val="1200"/>
              </a:spcBef>
              <a:spcAft>
                <a:spcPts val="0"/>
              </a:spcAft>
              <a:buNone/>
            </a:pPr>
            <a:r>
              <a:t/>
            </a:r>
            <a:endParaRPr/>
          </a:p>
          <a:p>
            <a:pPr indent="-190500" lvl="0" marL="342900" rtl="0" algn="l">
              <a:lnSpc>
                <a:spcPct val="114000"/>
              </a:lnSpc>
              <a:spcBef>
                <a:spcPts val="480"/>
              </a:spcBef>
              <a:spcAft>
                <a:spcPts val="0"/>
              </a:spcAft>
              <a:buClr>
                <a:schemeClr val="dk1"/>
              </a:buClr>
              <a:buSzPts val="2400"/>
              <a:buFont typeface="Noto Sans Symbols"/>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8"/>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Future Enhancement</a:t>
            </a:r>
            <a:endParaRPr>
              <a:latin typeface="Calibri"/>
              <a:ea typeface="Calibri"/>
              <a:cs typeface="Calibri"/>
              <a:sym typeface="Calibri"/>
            </a:endParaRPr>
          </a:p>
        </p:txBody>
      </p:sp>
      <p:sp>
        <p:nvSpPr>
          <p:cNvPr id="281" name="Google Shape;281;p38"/>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Autofit/>
          </a:bodyPr>
          <a:lstStyle/>
          <a:p>
            <a:pPr indent="0" lvl="0" marL="342900" rtl="0" algn="l">
              <a:spcBef>
                <a:spcPts val="0"/>
              </a:spcBef>
              <a:spcAft>
                <a:spcPts val="0"/>
              </a:spcAft>
              <a:buClr>
                <a:schemeClr val="dk1"/>
              </a:buClr>
              <a:buSzPts val="1100"/>
              <a:buFont typeface="Arial"/>
              <a:buNone/>
            </a:pPr>
            <a:r>
              <a:rPr b="1" lang="en-US" sz="1900">
                <a:latin typeface="Arial"/>
                <a:ea typeface="Arial"/>
                <a:cs typeface="Arial"/>
                <a:sym typeface="Arial"/>
              </a:rPr>
              <a:t>Integration with Multiple Courier Services</a:t>
            </a:r>
            <a:r>
              <a:rPr lang="en-US" sz="1900">
                <a:latin typeface="Arial"/>
                <a:ea typeface="Arial"/>
                <a:cs typeface="Arial"/>
                <a:sym typeface="Arial"/>
              </a:rPr>
              <a:t>:</a:t>
            </a:r>
            <a:br>
              <a:rPr lang="en-US" sz="1900">
                <a:latin typeface="Arial"/>
                <a:ea typeface="Arial"/>
                <a:cs typeface="Arial"/>
                <a:sym typeface="Arial"/>
              </a:rPr>
            </a:br>
            <a:r>
              <a:rPr lang="en-US" sz="1900">
                <a:latin typeface="Arial"/>
                <a:ea typeface="Arial"/>
                <a:cs typeface="Arial"/>
                <a:sym typeface="Arial"/>
              </a:rPr>
              <a:t>Extend the automation to interact with additional courier websites, allowing users to compare quotes from multiple service providers in a single workflow.</a:t>
            </a:r>
            <a:endParaRPr sz="1900">
              <a:latin typeface="Arial"/>
              <a:ea typeface="Arial"/>
              <a:cs typeface="Arial"/>
              <a:sym typeface="Arial"/>
            </a:endParaRPr>
          </a:p>
          <a:p>
            <a:pPr indent="0" lvl="0" marL="342900" rtl="0" algn="l">
              <a:spcBef>
                <a:spcPts val="0"/>
              </a:spcBef>
              <a:spcAft>
                <a:spcPts val="0"/>
              </a:spcAft>
              <a:buClr>
                <a:schemeClr val="dk1"/>
              </a:buClr>
              <a:buSzPts val="1100"/>
              <a:buFont typeface="Arial"/>
              <a:buNone/>
            </a:pPr>
            <a:r>
              <a:rPr b="1" lang="en-US" sz="1900">
                <a:latin typeface="Arial"/>
                <a:ea typeface="Arial"/>
                <a:cs typeface="Arial"/>
                <a:sym typeface="Arial"/>
              </a:rPr>
              <a:t>Dynamic Data Validation</a:t>
            </a:r>
            <a:r>
              <a:rPr lang="en-US" sz="1900">
                <a:latin typeface="Arial"/>
                <a:ea typeface="Arial"/>
                <a:cs typeface="Arial"/>
                <a:sym typeface="Arial"/>
              </a:rPr>
              <a:t>:</a:t>
            </a:r>
            <a:br>
              <a:rPr lang="en-US" sz="1900">
                <a:latin typeface="Arial"/>
                <a:ea typeface="Arial"/>
                <a:cs typeface="Arial"/>
                <a:sym typeface="Arial"/>
              </a:rPr>
            </a:br>
            <a:r>
              <a:rPr lang="en-US" sz="1900">
                <a:latin typeface="Arial"/>
                <a:ea typeface="Arial"/>
                <a:cs typeface="Arial"/>
                <a:sym typeface="Arial"/>
              </a:rPr>
              <a:t>Implement advanced validation mechanisms, such as integrating with APIs, to verify addresses, package dimensions, and weight before submission.</a:t>
            </a:r>
            <a:endParaRPr sz="1900">
              <a:latin typeface="Arial"/>
              <a:ea typeface="Arial"/>
              <a:cs typeface="Arial"/>
              <a:sym typeface="Arial"/>
            </a:endParaRPr>
          </a:p>
          <a:p>
            <a:pPr indent="0" lvl="0" marL="342900" rtl="0" algn="l">
              <a:spcBef>
                <a:spcPts val="0"/>
              </a:spcBef>
              <a:spcAft>
                <a:spcPts val="0"/>
              </a:spcAft>
              <a:buClr>
                <a:schemeClr val="dk1"/>
              </a:buClr>
              <a:buSzPts val="1100"/>
              <a:buFont typeface="Arial"/>
              <a:buNone/>
            </a:pPr>
            <a:r>
              <a:rPr b="1" lang="en-US" sz="1900">
                <a:latin typeface="Arial"/>
                <a:ea typeface="Arial"/>
                <a:cs typeface="Arial"/>
                <a:sym typeface="Arial"/>
              </a:rPr>
              <a:t>Data Storage and Reporting</a:t>
            </a:r>
            <a:r>
              <a:rPr lang="en-US" sz="1900">
                <a:latin typeface="Arial"/>
                <a:ea typeface="Arial"/>
                <a:cs typeface="Arial"/>
                <a:sym typeface="Arial"/>
              </a:rPr>
              <a:t>:</a:t>
            </a:r>
            <a:br>
              <a:rPr lang="en-US" sz="1900">
                <a:latin typeface="Arial"/>
                <a:ea typeface="Arial"/>
                <a:cs typeface="Arial"/>
                <a:sym typeface="Arial"/>
              </a:rPr>
            </a:br>
            <a:r>
              <a:rPr lang="en-US" sz="1900">
                <a:latin typeface="Arial"/>
                <a:ea typeface="Arial"/>
                <a:cs typeface="Arial"/>
                <a:sym typeface="Arial"/>
              </a:rPr>
              <a:t>Store shipping request and quote data in a centralized database or generate detailed Excel reports for tracking and analysis over time.</a:t>
            </a:r>
            <a:endParaRPr sz="1900">
              <a:latin typeface="Arial"/>
              <a:ea typeface="Arial"/>
              <a:cs typeface="Arial"/>
              <a:sym typeface="Arial"/>
            </a:endParaRPr>
          </a:p>
          <a:p>
            <a:pPr indent="0" lvl="0" marL="342900" rtl="0" algn="l">
              <a:spcBef>
                <a:spcPts val="0"/>
              </a:spcBef>
              <a:spcAft>
                <a:spcPts val="0"/>
              </a:spcAft>
              <a:buClr>
                <a:schemeClr val="dk1"/>
              </a:buClr>
              <a:buSzPts val="1100"/>
              <a:buFont typeface="Arial"/>
              <a:buNone/>
            </a:pPr>
            <a:r>
              <a:rPr b="1" lang="en-US" sz="1900">
                <a:latin typeface="Arial"/>
                <a:ea typeface="Arial"/>
                <a:cs typeface="Arial"/>
                <a:sym typeface="Arial"/>
              </a:rPr>
              <a:t>User Interface Enhancement</a:t>
            </a:r>
            <a:r>
              <a:rPr lang="en-US" sz="1900">
                <a:latin typeface="Arial"/>
                <a:ea typeface="Arial"/>
                <a:cs typeface="Arial"/>
                <a:sym typeface="Arial"/>
              </a:rPr>
              <a:t>:</a:t>
            </a:r>
            <a:br>
              <a:rPr lang="en-US" sz="1900">
                <a:latin typeface="Arial"/>
                <a:ea typeface="Arial"/>
                <a:cs typeface="Arial"/>
                <a:sym typeface="Arial"/>
              </a:rPr>
            </a:br>
            <a:r>
              <a:rPr lang="en-US" sz="1900">
                <a:latin typeface="Arial"/>
                <a:ea typeface="Arial"/>
                <a:cs typeface="Arial"/>
                <a:sym typeface="Arial"/>
              </a:rPr>
              <a:t>Develop a front-end interface for users to input details, review past shipping requests, and track ongoing transactions seamlessly.</a:t>
            </a:r>
            <a:endParaRPr sz="1900">
              <a:latin typeface="Arial"/>
              <a:ea typeface="Arial"/>
              <a:cs typeface="Arial"/>
              <a:sym typeface="Arial"/>
            </a:endParaRPr>
          </a:p>
          <a:p>
            <a:pPr indent="0" lvl="0" marL="342900" rtl="0" algn="l">
              <a:spcBef>
                <a:spcPts val="0"/>
              </a:spcBef>
              <a:spcAft>
                <a:spcPts val="0"/>
              </a:spcAft>
              <a:buClr>
                <a:schemeClr val="dk1"/>
              </a:buClr>
              <a:buSzPts val="1100"/>
              <a:buFont typeface="Arial"/>
              <a:buNone/>
            </a:pPr>
            <a:r>
              <a:rPr b="1" lang="en-US" sz="1900">
                <a:latin typeface="Arial"/>
                <a:ea typeface="Arial"/>
                <a:cs typeface="Arial"/>
                <a:sym typeface="Arial"/>
              </a:rPr>
              <a:t>Real-Time Tracking</a:t>
            </a:r>
            <a:r>
              <a:rPr lang="en-US" sz="1900">
                <a:latin typeface="Arial"/>
                <a:ea typeface="Arial"/>
                <a:cs typeface="Arial"/>
                <a:sym typeface="Arial"/>
              </a:rPr>
              <a:t>:</a:t>
            </a:r>
            <a:br>
              <a:rPr lang="en-US" sz="1900">
                <a:latin typeface="Arial"/>
                <a:ea typeface="Arial"/>
                <a:cs typeface="Arial"/>
                <a:sym typeface="Arial"/>
              </a:rPr>
            </a:br>
            <a:r>
              <a:rPr lang="en-US" sz="1900">
                <a:latin typeface="Arial"/>
                <a:ea typeface="Arial"/>
                <a:cs typeface="Arial"/>
                <a:sym typeface="Arial"/>
              </a:rPr>
              <a:t>Extend the solution to retrieve tracking details for shipments once a quote is accepted and shipping is initiated.</a:t>
            </a:r>
            <a:endParaRPr sz="1900">
              <a:latin typeface="Arial"/>
              <a:ea typeface="Arial"/>
              <a:cs typeface="Arial"/>
              <a:sym typeface="Arial"/>
            </a:endParaRPr>
          </a:p>
          <a:p>
            <a:pPr indent="0" lvl="0" marL="342900" rtl="0" algn="l">
              <a:lnSpc>
                <a:spcPct val="114000"/>
              </a:lnSpc>
              <a:spcBef>
                <a:spcPts val="0"/>
              </a:spcBef>
              <a:spcAft>
                <a:spcPts val="0"/>
              </a:spcAft>
              <a:buNone/>
            </a:pPr>
            <a:r>
              <a:t/>
            </a:r>
            <a:endParaRPr sz="1900"/>
          </a:p>
          <a:p>
            <a:pPr indent="-190500" lvl="0" marL="342900" rtl="0" algn="l">
              <a:lnSpc>
                <a:spcPct val="114000"/>
              </a:lnSpc>
              <a:spcBef>
                <a:spcPts val="480"/>
              </a:spcBef>
              <a:spcAft>
                <a:spcPts val="0"/>
              </a:spcAft>
              <a:buClr>
                <a:schemeClr val="dk1"/>
              </a:buClr>
              <a:buSzPts val="2400"/>
              <a:buFont typeface="Noto Sans Symbols"/>
              <a:buNone/>
            </a:pPr>
            <a:r>
              <a:t/>
            </a:r>
            <a:endParaRPr sz="1900"/>
          </a:p>
          <a:p>
            <a:pPr indent="-190500" lvl="0" marL="342900" rtl="0" algn="l">
              <a:lnSpc>
                <a:spcPct val="114000"/>
              </a:lnSpc>
              <a:spcBef>
                <a:spcPts val="480"/>
              </a:spcBef>
              <a:spcAft>
                <a:spcPts val="0"/>
              </a:spcAft>
              <a:buClr>
                <a:schemeClr val="dk1"/>
              </a:buClr>
              <a:buSzPts val="2400"/>
              <a:buFont typeface="Noto Sans Symbols"/>
              <a:buNone/>
            </a:pPr>
            <a:r>
              <a:t/>
            </a:r>
            <a:endParaRPr sz="1900"/>
          </a:p>
          <a:p>
            <a:pPr indent="-190500" lvl="0" marL="342900" rtl="0" algn="l">
              <a:lnSpc>
                <a:spcPct val="114000"/>
              </a:lnSpc>
              <a:spcBef>
                <a:spcPts val="480"/>
              </a:spcBef>
              <a:spcAft>
                <a:spcPts val="0"/>
              </a:spcAft>
              <a:buClr>
                <a:schemeClr val="dk1"/>
              </a:buClr>
              <a:buSzPts val="2400"/>
              <a:buFont typeface="Noto Sans Symbols"/>
              <a:buNone/>
            </a:pPr>
            <a:r>
              <a:t/>
            </a:r>
            <a:endParaRPr sz="19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9"/>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IEEE Paper</a:t>
            </a:r>
            <a:endParaRPr>
              <a:latin typeface="Calibri"/>
              <a:ea typeface="Calibri"/>
              <a:cs typeface="Calibri"/>
              <a:sym typeface="Calibri"/>
            </a:endParaRPr>
          </a:p>
        </p:txBody>
      </p:sp>
      <p:sp>
        <p:nvSpPr>
          <p:cNvPr id="288" name="Google Shape;288;p39"/>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342900" lvl="0" marL="342900" rtl="0" algn="l">
              <a:lnSpc>
                <a:spcPct val="114000"/>
              </a:lnSpc>
              <a:spcBef>
                <a:spcPts val="0"/>
              </a:spcBef>
              <a:spcAft>
                <a:spcPts val="0"/>
              </a:spcAft>
              <a:buClr>
                <a:schemeClr val="dk1"/>
              </a:buClr>
              <a:buSzPts val="2400"/>
              <a:buFont typeface="Noto Sans Symbols"/>
              <a:buChar char="▪"/>
            </a:pPr>
            <a:r>
              <a:rPr lang="en-US"/>
              <a:t>Title</a:t>
            </a:r>
            <a:endParaRPr/>
          </a:p>
          <a:p>
            <a:pPr indent="-342900" lvl="0" marL="342900" rtl="0" algn="l">
              <a:lnSpc>
                <a:spcPct val="114000"/>
              </a:lnSpc>
              <a:spcBef>
                <a:spcPts val="480"/>
              </a:spcBef>
              <a:spcAft>
                <a:spcPts val="0"/>
              </a:spcAft>
              <a:buClr>
                <a:schemeClr val="dk1"/>
              </a:buClr>
              <a:buSzPts val="2400"/>
              <a:buFont typeface="Noto Sans Symbols"/>
              <a:buChar char="▪"/>
            </a:pPr>
            <a:r>
              <a:rPr lang="en-US"/>
              <a:t>Authors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0"/>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References</a:t>
            </a:r>
            <a:endParaRPr>
              <a:latin typeface="Calibri"/>
              <a:ea typeface="Calibri"/>
              <a:cs typeface="Calibri"/>
              <a:sym typeface="Calibri"/>
            </a:endParaRPr>
          </a:p>
        </p:txBody>
      </p:sp>
      <p:sp>
        <p:nvSpPr>
          <p:cNvPr id="295" name="Google Shape;295;p40"/>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342900" lvl="0" marL="342900" rtl="0" algn="l">
              <a:lnSpc>
                <a:spcPct val="114000"/>
              </a:lnSpc>
              <a:spcBef>
                <a:spcPts val="0"/>
              </a:spcBef>
              <a:spcAft>
                <a:spcPts val="0"/>
              </a:spcAft>
              <a:buClr>
                <a:schemeClr val="dk1"/>
              </a:buClr>
              <a:buSzPts val="2400"/>
              <a:buFont typeface="Noto Sans Symbols"/>
              <a:buChar char="▪"/>
            </a:pPr>
            <a:r>
              <a:rPr lang="en-US"/>
              <a:t>UiPath Documentation: </a:t>
            </a:r>
            <a:r>
              <a:rPr lang="en-US" u="sng">
                <a:solidFill>
                  <a:schemeClr val="hlink"/>
                </a:solidFill>
                <a:hlinkClick r:id="rId3"/>
              </a:rPr>
              <a:t>https://docs.uipath.com</a:t>
            </a:r>
            <a:endParaRPr/>
          </a:p>
          <a:p>
            <a:pPr indent="-342900" lvl="0" marL="342900" rtl="0" algn="l">
              <a:lnSpc>
                <a:spcPct val="114000"/>
              </a:lnSpc>
              <a:spcBef>
                <a:spcPts val="0"/>
              </a:spcBef>
              <a:spcAft>
                <a:spcPts val="0"/>
              </a:spcAft>
              <a:buSzPts val="2400"/>
              <a:buChar char="▪"/>
            </a:pPr>
            <a:r>
              <a:rPr lang="en-US"/>
              <a:t>UiPath Forum: https://forum.uipath.com</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1"/>
          <p:cNvSpPr/>
          <p:nvPr/>
        </p:nvSpPr>
        <p:spPr>
          <a:xfrm>
            <a:off x="2532822" y="2321005"/>
            <a:ext cx="4078361"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9600">
                <a:solidFill>
                  <a:schemeClr val="dk1"/>
                </a:solidFill>
                <a:latin typeface="Calibri"/>
                <a:ea typeface="Calibri"/>
                <a:cs typeface="Calibri"/>
                <a:sym typeface="Calibri"/>
              </a:rPr>
              <a:t>Queries</a:t>
            </a:r>
            <a:endParaRPr sz="96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2"/>
          <p:cNvSpPr/>
          <p:nvPr/>
        </p:nvSpPr>
        <p:spPr>
          <a:xfrm>
            <a:off x="727460" y="2321005"/>
            <a:ext cx="7689093"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9600">
                <a:solidFill>
                  <a:schemeClr val="dk1"/>
                </a:solidFill>
                <a:latin typeface="Calibri"/>
                <a:ea typeface="Calibri"/>
                <a:cs typeface="Calibri"/>
                <a:sym typeface="Calibri"/>
              </a:rPr>
              <a:t>Demonstration</a:t>
            </a:r>
            <a:endParaRPr sz="96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3"/>
          <p:cNvSpPr/>
          <p:nvPr/>
        </p:nvSpPr>
        <p:spPr>
          <a:xfrm>
            <a:off x="1844234" y="2321005"/>
            <a:ext cx="5455532"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9600">
                <a:solidFill>
                  <a:schemeClr val="dk1"/>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